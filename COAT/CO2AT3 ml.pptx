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D5420-D1D4-98FA-F30B-E26E076B2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1FEF025-D665-66C5-2504-C627DE3105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6EBEE3-9F6F-2D46-34CA-7ABEC9991CD0}"/>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5" name="Footer Placeholder 4">
            <a:extLst>
              <a:ext uri="{FF2B5EF4-FFF2-40B4-BE49-F238E27FC236}">
                <a16:creationId xmlns:a16="http://schemas.microsoft.com/office/drawing/2014/main" id="{EC7ADEBC-5637-FA93-0DE8-9D1BD417EE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A14423-776B-0C88-8BB1-6D0EA900040A}"/>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108353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34A33-39AD-C091-C4EB-D875D0E955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6E7CAE-236B-DAD2-0A2F-A5FEEBDE63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FBFA2-DDD9-C9D7-6BFE-A0376DA1B504}"/>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5" name="Footer Placeholder 4">
            <a:extLst>
              <a:ext uri="{FF2B5EF4-FFF2-40B4-BE49-F238E27FC236}">
                <a16:creationId xmlns:a16="http://schemas.microsoft.com/office/drawing/2014/main" id="{B1266147-E224-639C-9593-3154AC24DA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084A37-45F3-0622-5A3E-8F640476E4A7}"/>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414109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8E771-D7E4-573E-6C5A-5AF44CED52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FC644FC-9C7F-ADDA-EEE7-47E0F9E2F3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1B4B4A-1F17-6CC5-31F3-CB70B18CCF90}"/>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5" name="Footer Placeholder 4">
            <a:extLst>
              <a:ext uri="{FF2B5EF4-FFF2-40B4-BE49-F238E27FC236}">
                <a16:creationId xmlns:a16="http://schemas.microsoft.com/office/drawing/2014/main" id="{8CDDBAB4-C1EA-4914-27FE-641C466767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CC59DA-EC60-BBCF-F4D1-5CF74F02DC73}"/>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228173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5ED71-418B-3C2E-59D8-96303BB677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4DF902-2265-ED68-CCCB-6B25FC80F2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0434792-819B-F102-1663-8342D2755A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DB6FAF-2289-1426-FE91-5467D5BD8204}"/>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6" name="Footer Placeholder 5">
            <a:extLst>
              <a:ext uri="{FF2B5EF4-FFF2-40B4-BE49-F238E27FC236}">
                <a16:creationId xmlns:a16="http://schemas.microsoft.com/office/drawing/2014/main" id="{EB23EFAB-6322-0753-73C6-CE2B4B4750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12F314-AB7B-316B-2533-4288EDD15873}"/>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3956416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1B645-DAE2-138E-60D8-BAEFF9FF48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62A380-9957-F598-B09A-BEDC2594F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3144A5-1181-14A2-E568-241388ACCB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09DE224-2060-FAA0-4C41-640A0632A5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619914-B7E4-C5B5-9F05-796758543B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198823-17C0-9121-9C87-63C1ECF889BF}"/>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8" name="Footer Placeholder 7">
            <a:extLst>
              <a:ext uri="{FF2B5EF4-FFF2-40B4-BE49-F238E27FC236}">
                <a16:creationId xmlns:a16="http://schemas.microsoft.com/office/drawing/2014/main" id="{706998E8-F225-7BF1-E18C-B8E80B05A31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57C06AC-790D-A424-D684-F690CD9D11C3}"/>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4198721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47ED1-37D8-1D3B-FCCC-A4302154B6B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D2B941-9BC2-E502-162B-8754ABA412BE}"/>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4" name="Footer Placeholder 3">
            <a:extLst>
              <a:ext uri="{FF2B5EF4-FFF2-40B4-BE49-F238E27FC236}">
                <a16:creationId xmlns:a16="http://schemas.microsoft.com/office/drawing/2014/main" id="{8DE8CCBE-39BF-CE9E-1868-94B18E77F4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0B3466D-20D9-C3A3-7C4E-13BDD9C48DC9}"/>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4205408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BBE6A3-7960-F453-D6C6-51489B7EE1F8}"/>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3" name="Footer Placeholder 2">
            <a:extLst>
              <a:ext uri="{FF2B5EF4-FFF2-40B4-BE49-F238E27FC236}">
                <a16:creationId xmlns:a16="http://schemas.microsoft.com/office/drawing/2014/main" id="{82EB323A-54DC-E221-FD1A-10620D29CD0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3AA33A-BAC1-44E4-850F-65069EE813E1}"/>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2258217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819FD-F417-5CF5-7FCD-68B316887B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84BCD2-5A20-1AAA-866B-459DB8D19E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2C3645B-27A9-DE0A-D267-B460B89533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F2A759-13D4-A523-E838-976E2D5AC0C2}"/>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6" name="Footer Placeholder 5">
            <a:extLst>
              <a:ext uri="{FF2B5EF4-FFF2-40B4-BE49-F238E27FC236}">
                <a16:creationId xmlns:a16="http://schemas.microsoft.com/office/drawing/2014/main" id="{ECA210A5-7D35-1A64-0A5A-BBB16A6CCE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472F21-8AC8-775F-A50A-3B7F235394F0}"/>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3327509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5E46-DD9C-D78B-1A0E-CC89152D1C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FBFE5AB-16CB-3960-B769-06A46D729C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E871C3-2E7C-73A9-1613-8D4038970C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CC59C6-488B-1561-79FB-745444FF5AA7}"/>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6" name="Footer Placeholder 5">
            <a:extLst>
              <a:ext uri="{FF2B5EF4-FFF2-40B4-BE49-F238E27FC236}">
                <a16:creationId xmlns:a16="http://schemas.microsoft.com/office/drawing/2014/main" id="{0028DD62-28D5-FA94-CFB3-8298484B74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E8C598-292E-5B0A-ED36-C9E4809024C8}"/>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2644882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A2079-DFB7-EEE4-F59E-E61567ED27C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E8D08E-B205-169A-9E46-4B2DABAF65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4E830F-1A88-F043-E19B-50672A5CB507}"/>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5" name="Footer Placeholder 4">
            <a:extLst>
              <a:ext uri="{FF2B5EF4-FFF2-40B4-BE49-F238E27FC236}">
                <a16:creationId xmlns:a16="http://schemas.microsoft.com/office/drawing/2014/main" id="{C6230363-DE1E-27DD-43F0-1CB1A92702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1A04F5-2754-22D2-0F18-9396380212F7}"/>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3634157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09858-B218-E130-DA23-22C3B91C00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5DEF27-8FD6-9915-9E53-EF432B7D44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8D35B3-4DC6-60BE-7CA1-9F0DEBB645B7}"/>
              </a:ext>
            </a:extLst>
          </p:cNvPr>
          <p:cNvSpPr>
            <a:spLocks noGrp="1"/>
          </p:cNvSpPr>
          <p:nvPr>
            <p:ph type="dt" sz="half" idx="10"/>
          </p:nvPr>
        </p:nvSpPr>
        <p:spPr/>
        <p:txBody>
          <a:bodyPr/>
          <a:lstStyle/>
          <a:p>
            <a:fld id="{E86ED832-20E3-4232-8D36-B4AB02C7945C}" type="datetimeFigureOut">
              <a:rPr lang="en-IN" smtClean="0"/>
              <a:t>28-07-2026</a:t>
            </a:fld>
            <a:endParaRPr lang="en-IN"/>
          </a:p>
        </p:txBody>
      </p:sp>
      <p:sp>
        <p:nvSpPr>
          <p:cNvPr id="5" name="Footer Placeholder 4">
            <a:extLst>
              <a:ext uri="{FF2B5EF4-FFF2-40B4-BE49-F238E27FC236}">
                <a16:creationId xmlns:a16="http://schemas.microsoft.com/office/drawing/2014/main" id="{51E882AC-27FE-799C-6E97-1EA3699792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904964-F8CA-D892-CDAD-78CD9C27890B}"/>
              </a:ext>
            </a:extLst>
          </p:cNvPr>
          <p:cNvSpPr>
            <a:spLocks noGrp="1"/>
          </p:cNvSpPr>
          <p:nvPr>
            <p:ph type="sldNum" sz="quarter" idx="12"/>
          </p:nvPr>
        </p:nvSpPr>
        <p:spPr/>
        <p:txBody>
          <a:bodyPr/>
          <a:lstStyle/>
          <a:p>
            <a:fld id="{D9728F8B-BFCA-46A3-94A5-C777644D5898}" type="slidenum">
              <a:rPr lang="en-IN" smtClean="0"/>
              <a:t>‹#›</a:t>
            </a:fld>
            <a:endParaRPr lang="en-IN"/>
          </a:p>
        </p:txBody>
      </p:sp>
    </p:spTree>
    <p:extLst>
      <p:ext uri="{BB962C8B-B14F-4D97-AF65-F5344CB8AC3E}">
        <p14:creationId xmlns:p14="http://schemas.microsoft.com/office/powerpoint/2010/main" val="4089331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B9E397-902E-EA61-4E9A-B480D7D2B5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3C0CB3-FBDF-8944-EB5D-56746989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411570-E42E-3A74-52EE-8406D416F2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6ED832-20E3-4232-8D36-B4AB02C7945C}" type="datetimeFigureOut">
              <a:rPr lang="en-IN" smtClean="0"/>
              <a:t>28-07-2026</a:t>
            </a:fld>
            <a:endParaRPr lang="en-IN"/>
          </a:p>
        </p:txBody>
      </p:sp>
      <p:sp>
        <p:nvSpPr>
          <p:cNvPr id="5" name="Footer Placeholder 4">
            <a:extLst>
              <a:ext uri="{FF2B5EF4-FFF2-40B4-BE49-F238E27FC236}">
                <a16:creationId xmlns:a16="http://schemas.microsoft.com/office/drawing/2014/main" id="{5DBD3CB4-A155-2C15-ED52-747EA8D1FB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D4498E-7B97-1164-0EB3-4300CDC10B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728F8B-BFCA-46A3-94A5-C777644D5898}" type="slidenum">
              <a:rPr lang="en-IN" smtClean="0"/>
              <a:t>‹#›</a:t>
            </a:fld>
            <a:endParaRPr lang="en-IN"/>
          </a:p>
        </p:txBody>
      </p:sp>
    </p:spTree>
    <p:extLst>
      <p:ext uri="{BB962C8B-B14F-4D97-AF65-F5344CB8AC3E}">
        <p14:creationId xmlns:p14="http://schemas.microsoft.com/office/powerpoint/2010/main" val="3992821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00685-827A-A810-7ACA-289EAB04E3EB}"/>
              </a:ext>
            </a:extLst>
          </p:cNvPr>
          <p:cNvSpPr>
            <a:spLocks noGrp="1"/>
          </p:cNvSpPr>
          <p:nvPr>
            <p:ph type="ctrTitle"/>
          </p:nvPr>
        </p:nvSpPr>
        <p:spPr/>
        <p:txBody>
          <a:bodyPr>
            <a:noAutofit/>
          </a:bodyPr>
          <a:lstStyle/>
          <a:p>
            <a:r>
              <a:rPr lang="en-US" sz="4000" b="1" dirty="0"/>
              <a:t>CO2AT3</a:t>
            </a:r>
            <a:br>
              <a:rPr lang="en-US" sz="4000" b="1" dirty="0"/>
            </a:br>
            <a:r>
              <a:rPr lang="en-IN" sz="4000" b="1" dirty="0"/>
              <a:t>DEBUGGING &amp; OPTIMIZATION TASK QUESTIONS</a:t>
            </a:r>
          </a:p>
        </p:txBody>
      </p:sp>
      <p:sp>
        <p:nvSpPr>
          <p:cNvPr id="3" name="Subtitle 2">
            <a:extLst>
              <a:ext uri="{FF2B5EF4-FFF2-40B4-BE49-F238E27FC236}">
                <a16:creationId xmlns:a16="http://schemas.microsoft.com/office/drawing/2014/main" id="{042F3BD5-4506-101E-DDEB-8748289F67BE}"/>
              </a:ext>
            </a:extLst>
          </p:cNvPr>
          <p:cNvSpPr>
            <a:spLocks noGrp="1"/>
          </p:cNvSpPr>
          <p:nvPr>
            <p:ph type="subTitle" idx="1"/>
          </p:nvPr>
        </p:nvSpPr>
        <p:spPr/>
        <p:txBody>
          <a:bodyPr/>
          <a:lstStyle/>
          <a:p>
            <a:r>
              <a:rPr lang="en-US" dirty="0"/>
              <a:t>				M.PAVAN KUMAR </a:t>
            </a:r>
          </a:p>
          <a:p>
            <a:r>
              <a:rPr lang="en-US" dirty="0"/>
              <a:t>			192312142</a:t>
            </a:r>
            <a:endParaRPr lang="en-IN" dirty="0"/>
          </a:p>
        </p:txBody>
      </p:sp>
    </p:spTree>
    <p:extLst>
      <p:ext uri="{BB962C8B-B14F-4D97-AF65-F5344CB8AC3E}">
        <p14:creationId xmlns:p14="http://schemas.microsoft.com/office/powerpoint/2010/main" val="1557316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A9ACB-6EE8-C9AE-84B3-CF1270B699DE}"/>
              </a:ext>
            </a:extLst>
          </p:cNvPr>
          <p:cNvSpPr>
            <a:spLocks noGrp="1"/>
          </p:cNvSpPr>
          <p:nvPr>
            <p:ph type="title"/>
          </p:nvPr>
        </p:nvSpPr>
        <p:spPr/>
        <p:txBody>
          <a:bodyPr>
            <a:noAutofit/>
          </a:bodyPr>
          <a:lstStyle/>
          <a:p>
            <a:r>
              <a:rPr lang="en-IN" sz="2000" b="1" dirty="0"/>
              <a:t>13. A recurrent neural network (RNN) designed for time-series prediction shows inconsistent outputs and fails to capture long-term dependencies. </a:t>
            </a:r>
            <a:r>
              <a:rPr lang="en-IN" sz="2000" b="1" dirty="0" err="1"/>
              <a:t>Analyze</a:t>
            </a:r>
            <a:r>
              <a:rPr lang="en-IN" sz="2000" b="1" dirty="0"/>
              <a:t> possible causes such as vanishing gradients, insufficient sequence length, or improper architecture design. Describe debugging steps and propose optimization techniques such as using LSTM/GRU units, gradient clipping, and sequence normalization. </a:t>
            </a:r>
          </a:p>
        </p:txBody>
      </p:sp>
      <p:sp>
        <p:nvSpPr>
          <p:cNvPr id="3" name="Content Placeholder 2">
            <a:extLst>
              <a:ext uri="{FF2B5EF4-FFF2-40B4-BE49-F238E27FC236}">
                <a16:creationId xmlns:a16="http://schemas.microsoft.com/office/drawing/2014/main" id="{F9A5A55B-5110-EB25-5370-72FE1F45BAA5}"/>
              </a:ext>
            </a:extLst>
          </p:cNvPr>
          <p:cNvSpPr>
            <a:spLocks noGrp="1"/>
          </p:cNvSpPr>
          <p:nvPr>
            <p:ph idx="1"/>
          </p:nvPr>
        </p:nvSpPr>
        <p:spPr/>
        <p:txBody>
          <a:bodyPr>
            <a:noAutofit/>
          </a:bodyPr>
          <a:lstStyle/>
          <a:p>
            <a:r>
              <a:rPr lang="en-IN" sz="1800" b="1" dirty="0"/>
              <a:t>Possible Causes</a:t>
            </a:r>
          </a:p>
          <a:p>
            <a:r>
              <a:rPr lang="en-IN" sz="1800" b="1" dirty="0"/>
              <a:t>Vanishing Gradient Problem</a:t>
            </a:r>
            <a:r>
              <a:rPr lang="en-IN" sz="1800" dirty="0"/>
              <a:t> </a:t>
            </a:r>
          </a:p>
          <a:p>
            <a:pPr lvl="1"/>
            <a:r>
              <a:rPr lang="en-IN" sz="1800" dirty="0"/>
              <a:t>During backpropagation, gradients become extremely small. </a:t>
            </a:r>
          </a:p>
          <a:p>
            <a:pPr lvl="1"/>
            <a:r>
              <a:rPr lang="en-IN" sz="1800" dirty="0"/>
              <a:t>Earlier time-step information is gradually lost. </a:t>
            </a:r>
          </a:p>
          <a:p>
            <a:pPr lvl="1"/>
            <a:r>
              <a:rPr lang="en-IN" sz="1800" dirty="0"/>
              <a:t>The network cannot learn long-term dependencies effectively. </a:t>
            </a:r>
          </a:p>
          <a:p>
            <a:r>
              <a:rPr lang="en-IN" sz="1800" b="1" dirty="0"/>
              <a:t>Insufficient Sequence Length</a:t>
            </a:r>
            <a:r>
              <a:rPr lang="en-IN" sz="1800" dirty="0"/>
              <a:t> </a:t>
            </a:r>
          </a:p>
          <a:p>
            <a:pPr lvl="1"/>
            <a:r>
              <a:rPr lang="en-IN" sz="1800" dirty="0"/>
              <a:t>Input sequences are too short to capture historical patterns. </a:t>
            </a:r>
          </a:p>
          <a:p>
            <a:pPr lvl="1"/>
            <a:r>
              <a:rPr lang="en-IN" sz="1800" dirty="0"/>
              <a:t>Important past information is unavailable to the model. </a:t>
            </a:r>
          </a:p>
          <a:p>
            <a:r>
              <a:rPr lang="en-IN" sz="1800" b="1" dirty="0"/>
              <a:t>Improper Architecture Design</a:t>
            </a:r>
            <a:r>
              <a:rPr lang="en-IN" sz="1800" dirty="0"/>
              <a:t> </a:t>
            </a:r>
          </a:p>
          <a:p>
            <a:pPr lvl="1"/>
            <a:r>
              <a:rPr lang="en-IN" sz="1800" dirty="0"/>
              <a:t>Too few hidden neurons reduce learning capacity. </a:t>
            </a:r>
          </a:p>
          <a:p>
            <a:pPr lvl="1"/>
            <a:r>
              <a:rPr lang="en-IN" sz="1800" dirty="0"/>
              <a:t>Too many layers may cause overfitting or unstable training. </a:t>
            </a:r>
          </a:p>
          <a:p>
            <a:pPr lvl="1"/>
            <a:r>
              <a:rPr lang="en-IN" sz="1800" dirty="0"/>
              <a:t>Poor hyperparameter selection (learning rate, batch size) affects convergence. </a:t>
            </a:r>
          </a:p>
          <a:p>
            <a:endParaRPr lang="en-IN" sz="1800" b="1" dirty="0"/>
          </a:p>
          <a:p>
            <a:endParaRPr lang="en-IN" sz="1800" b="1" dirty="0"/>
          </a:p>
          <a:p>
            <a:endParaRPr lang="en-IN" sz="1800" b="1" dirty="0"/>
          </a:p>
          <a:p>
            <a:endParaRPr lang="en-IN" sz="1800" b="1" dirty="0"/>
          </a:p>
          <a:p>
            <a:endParaRPr lang="en-IN" sz="1800" dirty="0"/>
          </a:p>
        </p:txBody>
      </p:sp>
    </p:spTree>
    <p:extLst>
      <p:ext uri="{BB962C8B-B14F-4D97-AF65-F5344CB8AC3E}">
        <p14:creationId xmlns:p14="http://schemas.microsoft.com/office/powerpoint/2010/main" val="3301856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70C88E-6CA6-A616-D619-1F0EBDCD7007}"/>
              </a:ext>
            </a:extLst>
          </p:cNvPr>
          <p:cNvSpPr txBox="1"/>
          <p:nvPr/>
        </p:nvSpPr>
        <p:spPr>
          <a:xfrm>
            <a:off x="304800" y="615303"/>
            <a:ext cx="11513574" cy="6463308"/>
          </a:xfrm>
          <a:prstGeom prst="rect">
            <a:avLst/>
          </a:prstGeom>
          <a:noFill/>
        </p:spPr>
        <p:txBody>
          <a:bodyPr wrap="square">
            <a:spAutoFit/>
          </a:bodyPr>
          <a:lstStyle/>
          <a:p>
            <a:r>
              <a:rPr lang="en-IN" b="1" dirty="0"/>
              <a:t>4.Poor Data Quality</a:t>
            </a:r>
            <a:r>
              <a:rPr lang="en-IN" dirty="0"/>
              <a:t> </a:t>
            </a:r>
          </a:p>
          <a:p>
            <a:pPr marL="742950" lvl="1" indent="-285750">
              <a:buFont typeface="+mj-lt"/>
              <a:buAutoNum type="arabicPeriod"/>
            </a:pPr>
            <a:r>
              <a:rPr lang="en-IN" dirty="0"/>
              <a:t>Noisy or missing values confuse the network. </a:t>
            </a:r>
          </a:p>
          <a:p>
            <a:pPr marL="742950" lvl="1" indent="-285750">
              <a:buFont typeface="+mj-lt"/>
              <a:buAutoNum type="arabicPeriod"/>
            </a:pPr>
            <a:r>
              <a:rPr lang="en-IN" dirty="0"/>
              <a:t>Unnormalized data causes unstable gradient updates. </a:t>
            </a:r>
          </a:p>
          <a:p>
            <a:r>
              <a:rPr lang="en-IN" b="1" dirty="0"/>
              <a:t>5.Exploding Gradients</a:t>
            </a:r>
            <a:r>
              <a:rPr lang="en-IN" dirty="0"/>
              <a:t> </a:t>
            </a:r>
          </a:p>
          <a:p>
            <a:pPr marL="742950" lvl="1" indent="-285750">
              <a:buFont typeface="+mj-lt"/>
              <a:buAutoNum type="arabicPeriod"/>
            </a:pPr>
            <a:r>
              <a:rPr lang="en-IN" dirty="0"/>
              <a:t>Gradients become excessively large. </a:t>
            </a:r>
          </a:p>
          <a:p>
            <a:pPr marL="742950" lvl="1" indent="-285750">
              <a:buFont typeface="+mj-lt"/>
              <a:buAutoNum type="arabicPeriod"/>
            </a:pPr>
            <a:r>
              <a:rPr lang="en-IN" dirty="0"/>
              <a:t>Model weights change drastically, leading to unstable predictions. </a:t>
            </a:r>
          </a:p>
          <a:p>
            <a:pPr>
              <a:buNone/>
            </a:pPr>
            <a:br>
              <a:rPr lang="en-IN" dirty="0"/>
            </a:br>
            <a:endParaRPr lang="en-IN" dirty="0"/>
          </a:p>
          <a:p>
            <a:pPr>
              <a:buNone/>
            </a:pPr>
            <a:r>
              <a:rPr lang="en-IN" b="1" dirty="0"/>
              <a:t>Debugging Steps</a:t>
            </a:r>
          </a:p>
          <a:p>
            <a:pPr>
              <a:buFont typeface="Arial" panose="020B0604020202020204" pitchFamily="34" charset="0"/>
              <a:buChar char="•"/>
            </a:pPr>
            <a:r>
              <a:rPr lang="en-IN" dirty="0"/>
              <a:t>Monitor </a:t>
            </a:r>
            <a:r>
              <a:rPr lang="en-IN" b="1" dirty="0"/>
              <a:t>training and validation loss</a:t>
            </a:r>
            <a:r>
              <a:rPr lang="en-IN" dirty="0"/>
              <a:t> to detect overfitting or underfitting. </a:t>
            </a:r>
          </a:p>
          <a:p>
            <a:pPr>
              <a:buFont typeface="Arial" panose="020B0604020202020204" pitchFamily="34" charset="0"/>
              <a:buChar char="•"/>
            </a:pPr>
            <a:r>
              <a:rPr lang="en-IN" dirty="0"/>
              <a:t>Visualize gradient values to identify vanishing or exploding gradients. </a:t>
            </a:r>
          </a:p>
          <a:p>
            <a:pPr>
              <a:buFont typeface="Arial" panose="020B0604020202020204" pitchFamily="34" charset="0"/>
              <a:buChar char="•"/>
            </a:pPr>
            <a:r>
              <a:rPr lang="en-IN" dirty="0"/>
              <a:t>Increase sequence length to include more historical information. </a:t>
            </a:r>
          </a:p>
          <a:p>
            <a:pPr>
              <a:buFont typeface="Arial" panose="020B0604020202020204" pitchFamily="34" charset="0"/>
              <a:buChar char="•"/>
            </a:pPr>
            <a:r>
              <a:rPr lang="en-IN" dirty="0"/>
              <a:t>Check data preprocessing and remove missing or noisy values. </a:t>
            </a:r>
          </a:p>
          <a:p>
            <a:pPr>
              <a:buFont typeface="Arial" panose="020B0604020202020204" pitchFamily="34" charset="0"/>
              <a:buChar char="•"/>
            </a:pPr>
            <a:r>
              <a:rPr lang="en-IN" dirty="0"/>
              <a:t>Experiment with different learning rates and batch sizes. </a:t>
            </a:r>
          </a:p>
          <a:p>
            <a:pPr>
              <a:buFont typeface="Arial" panose="020B0604020202020204" pitchFamily="34" charset="0"/>
              <a:buChar char="•"/>
            </a:pPr>
            <a:r>
              <a:rPr lang="en-IN" dirty="0"/>
              <a:t>Evaluate predictions using RMSE or MAE to identify inconsistent outputs.</a:t>
            </a:r>
          </a:p>
          <a:p>
            <a:r>
              <a:rPr lang="en-IN" b="1" dirty="0"/>
              <a:t>Optimization Techniques</a:t>
            </a:r>
          </a:p>
          <a:p>
            <a:r>
              <a:rPr lang="en-IN" b="1" dirty="0"/>
              <a:t>Use LSTM (Long Short-Term Memory)</a:t>
            </a:r>
            <a:r>
              <a:rPr lang="en-IN" dirty="0"/>
              <a:t> </a:t>
            </a:r>
          </a:p>
          <a:p>
            <a:pPr lvl="1"/>
            <a:r>
              <a:rPr lang="en-IN" dirty="0"/>
              <a:t>Employs memory cells and gates (input, forget, output). </a:t>
            </a:r>
          </a:p>
          <a:p>
            <a:pPr lvl="1"/>
            <a:r>
              <a:rPr lang="en-IN" dirty="0"/>
              <a:t>Retains long-term information and overcomes vanishing gradients. </a:t>
            </a:r>
          </a:p>
          <a:p>
            <a:r>
              <a:rPr lang="en-IN" b="1" dirty="0"/>
              <a:t>Use GRU (Gated Recurrent Unit)</a:t>
            </a:r>
            <a:r>
              <a:rPr lang="en-IN" dirty="0"/>
              <a:t> </a:t>
            </a:r>
          </a:p>
          <a:p>
            <a:pPr lvl="1"/>
            <a:r>
              <a:rPr lang="en-IN" dirty="0"/>
              <a:t>Simpler than LSTM with fewer parameters. </a:t>
            </a:r>
          </a:p>
          <a:p>
            <a:pPr lvl="1"/>
            <a:r>
              <a:rPr lang="en-IN" dirty="0"/>
              <a:t>Trains faster while effectively capturing long-term dependencies.</a:t>
            </a:r>
          </a:p>
          <a:p>
            <a:endParaRPr lang="en-IN" dirty="0"/>
          </a:p>
        </p:txBody>
      </p:sp>
    </p:spTree>
    <p:extLst>
      <p:ext uri="{BB962C8B-B14F-4D97-AF65-F5344CB8AC3E}">
        <p14:creationId xmlns:p14="http://schemas.microsoft.com/office/powerpoint/2010/main" val="213592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854686-51A0-97E4-55FB-3DB8DE88BCD8}"/>
              </a:ext>
            </a:extLst>
          </p:cNvPr>
          <p:cNvSpPr txBox="1"/>
          <p:nvPr/>
        </p:nvSpPr>
        <p:spPr>
          <a:xfrm>
            <a:off x="471948" y="199804"/>
            <a:ext cx="11257936" cy="4801314"/>
          </a:xfrm>
          <a:prstGeom prst="rect">
            <a:avLst/>
          </a:prstGeom>
          <a:noFill/>
        </p:spPr>
        <p:txBody>
          <a:bodyPr wrap="square">
            <a:spAutoFit/>
          </a:bodyPr>
          <a:lstStyle/>
          <a:p>
            <a:pPr>
              <a:buFont typeface="+mj-lt"/>
              <a:buAutoNum type="arabicPeriod"/>
            </a:pPr>
            <a:r>
              <a:rPr lang="en-IN" b="1" dirty="0"/>
              <a:t>Gradient Clipping</a:t>
            </a:r>
            <a:r>
              <a:rPr lang="en-IN" dirty="0"/>
              <a:t> </a:t>
            </a:r>
          </a:p>
          <a:p>
            <a:pPr marL="742950" lvl="1" indent="-285750">
              <a:buFont typeface="+mj-lt"/>
              <a:buAutoNum type="arabicPeriod"/>
            </a:pPr>
            <a:r>
              <a:rPr lang="en-IN" dirty="0"/>
              <a:t>Limits gradient values during backpropagation. </a:t>
            </a:r>
          </a:p>
          <a:p>
            <a:pPr marL="742950" lvl="1" indent="-285750">
              <a:buFont typeface="+mj-lt"/>
              <a:buAutoNum type="arabicPeriod"/>
            </a:pPr>
            <a:r>
              <a:rPr lang="en-IN" dirty="0"/>
              <a:t>Prevents exploding gradients and stabilizes training. </a:t>
            </a:r>
          </a:p>
          <a:p>
            <a:pPr>
              <a:buFont typeface="+mj-lt"/>
              <a:buAutoNum type="arabicPeriod"/>
            </a:pPr>
            <a:r>
              <a:rPr lang="en-IN" b="1" dirty="0"/>
              <a:t>Sequence Normalization</a:t>
            </a:r>
            <a:r>
              <a:rPr lang="en-IN" dirty="0"/>
              <a:t> </a:t>
            </a:r>
          </a:p>
          <a:p>
            <a:pPr marL="742950" lvl="1" indent="-285750">
              <a:buFont typeface="+mj-lt"/>
              <a:buAutoNum type="arabicPeriod"/>
            </a:pPr>
            <a:r>
              <a:rPr lang="en-IN" dirty="0"/>
              <a:t>Normalize input data using Min-Max Scaling or Z-score normalization. </a:t>
            </a:r>
          </a:p>
          <a:p>
            <a:pPr marL="742950" lvl="1" indent="-285750">
              <a:buFont typeface="+mj-lt"/>
              <a:buAutoNum type="arabicPeriod"/>
            </a:pPr>
            <a:r>
              <a:rPr lang="en-IN" dirty="0"/>
              <a:t>Improves convergence speed and prediction accuracy. </a:t>
            </a:r>
          </a:p>
          <a:p>
            <a:pPr>
              <a:buFont typeface="+mj-lt"/>
              <a:buAutoNum type="arabicPeriod"/>
            </a:pPr>
            <a:r>
              <a:rPr lang="en-IN" b="1" dirty="0"/>
              <a:t>Regularization</a:t>
            </a:r>
            <a:r>
              <a:rPr lang="en-IN" dirty="0"/>
              <a:t> </a:t>
            </a:r>
          </a:p>
          <a:p>
            <a:pPr marL="742950" lvl="1" indent="-285750">
              <a:buFont typeface="+mj-lt"/>
              <a:buAutoNum type="arabicPeriod"/>
            </a:pPr>
            <a:r>
              <a:rPr lang="en-IN" dirty="0"/>
              <a:t>Apply dropout and early stopping to reduce overfitting. </a:t>
            </a:r>
          </a:p>
          <a:p>
            <a:pPr>
              <a:buFont typeface="+mj-lt"/>
              <a:buAutoNum type="arabicPeriod"/>
            </a:pPr>
            <a:r>
              <a:rPr lang="en-IN" b="1" dirty="0"/>
              <a:t>Hyperparameter Tuning</a:t>
            </a:r>
            <a:r>
              <a:rPr lang="en-IN" dirty="0"/>
              <a:t> </a:t>
            </a:r>
          </a:p>
          <a:p>
            <a:pPr marL="742950" lvl="1" indent="-285750">
              <a:buFont typeface="+mj-lt"/>
              <a:buAutoNum type="arabicPeriod"/>
            </a:pPr>
            <a:r>
              <a:rPr lang="en-IN" dirty="0"/>
              <a:t>Optimize learning rate, hidden units, epochs, and batch size for better performance. </a:t>
            </a:r>
          </a:p>
          <a:p>
            <a:pPr>
              <a:buNone/>
            </a:pPr>
            <a:br>
              <a:rPr lang="en-IN" dirty="0"/>
            </a:br>
            <a:endParaRPr lang="en-IN" dirty="0"/>
          </a:p>
          <a:p>
            <a:pPr>
              <a:buNone/>
            </a:pPr>
            <a:r>
              <a:rPr lang="en-IN" b="1" dirty="0"/>
              <a:t>Conclusion</a:t>
            </a:r>
          </a:p>
          <a:p>
            <a:pPr>
              <a:buNone/>
            </a:pPr>
            <a:r>
              <a:rPr lang="en-IN" dirty="0"/>
              <a:t>The inconsistent performance of an RNN is mainly caused by </a:t>
            </a:r>
            <a:r>
              <a:rPr lang="en-IN" b="1" dirty="0"/>
              <a:t>vanishing/exploding gradients, short input sequences, poor architecture, and inadequate preprocessing</a:t>
            </a:r>
            <a:r>
              <a:rPr lang="en-IN" dirty="0"/>
              <a:t>. Replacing a simple RNN with </a:t>
            </a:r>
            <a:r>
              <a:rPr lang="en-IN" b="1" dirty="0"/>
              <a:t>LSTM or GRU</a:t>
            </a:r>
            <a:r>
              <a:rPr lang="en-IN" dirty="0"/>
              <a:t>, applying </a:t>
            </a:r>
            <a:r>
              <a:rPr lang="en-IN" b="1" dirty="0"/>
              <a:t>gradient clipping</a:t>
            </a:r>
            <a:r>
              <a:rPr lang="en-IN" dirty="0"/>
              <a:t>, </a:t>
            </a:r>
            <a:r>
              <a:rPr lang="en-IN" b="1" dirty="0"/>
              <a:t>sequence normalization</a:t>
            </a:r>
            <a:r>
              <a:rPr lang="en-IN" dirty="0"/>
              <a:t>, and careful </a:t>
            </a:r>
            <a:r>
              <a:rPr lang="en-IN" b="1" dirty="0"/>
              <a:t>hyperparameter tuning</a:t>
            </a:r>
            <a:r>
              <a:rPr lang="en-IN" dirty="0"/>
              <a:t> significantly improves the model's ability to learn long-term dependencies and increases prediction accuracy in time-series applications.</a:t>
            </a:r>
          </a:p>
        </p:txBody>
      </p:sp>
    </p:spTree>
    <p:extLst>
      <p:ext uri="{BB962C8B-B14F-4D97-AF65-F5344CB8AC3E}">
        <p14:creationId xmlns:p14="http://schemas.microsoft.com/office/powerpoint/2010/main" val="401106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6130-8F79-8FB1-57A3-44AF408B0812}"/>
              </a:ext>
            </a:extLst>
          </p:cNvPr>
          <p:cNvSpPr>
            <a:spLocks noGrp="1"/>
          </p:cNvSpPr>
          <p:nvPr>
            <p:ph type="ctrTitle"/>
          </p:nvPr>
        </p:nvSpPr>
        <p:spPr>
          <a:xfrm>
            <a:off x="1524000" y="707923"/>
            <a:ext cx="9144000" cy="2802040"/>
          </a:xfrm>
        </p:spPr>
        <p:txBody>
          <a:bodyPr>
            <a:noAutofit/>
          </a:bodyPr>
          <a:lstStyle/>
          <a:p>
            <a:r>
              <a:rPr lang="en-IN" sz="2600" b="1" dirty="0"/>
              <a:t>14. A Naïve Bayes classifier used for text classification performs poorly when applied to real-world data containing noisy and irrelevant features. Examine possible issues such as violation of feature independence assumption, improper preprocessing, or imbalanced dataset. Explain debugging strategies and suggest improvements like feature selection, smoothing techniques, and data balancing methods. </a:t>
            </a:r>
          </a:p>
        </p:txBody>
      </p:sp>
      <p:sp>
        <p:nvSpPr>
          <p:cNvPr id="3" name="Subtitle 2">
            <a:extLst>
              <a:ext uri="{FF2B5EF4-FFF2-40B4-BE49-F238E27FC236}">
                <a16:creationId xmlns:a16="http://schemas.microsoft.com/office/drawing/2014/main" id="{2DDCBF69-A53C-7B99-F6A1-3CF5D07D227A}"/>
              </a:ext>
            </a:extLst>
          </p:cNvPr>
          <p:cNvSpPr>
            <a:spLocks noGrp="1"/>
          </p:cNvSpPr>
          <p:nvPr>
            <p:ph type="subTitle" idx="1"/>
          </p:nvPr>
        </p:nvSpPr>
        <p:spPr>
          <a:xfrm>
            <a:off x="1524000" y="3602037"/>
            <a:ext cx="9144000" cy="2208827"/>
          </a:xfrm>
        </p:spPr>
        <p:txBody>
          <a:bodyPr>
            <a:noAutofit/>
          </a:bodyPr>
          <a:lstStyle/>
          <a:p>
            <a:r>
              <a:rPr lang="en-IN" sz="1600" b="1" dirty="0"/>
              <a:t>Possible Issues</a:t>
            </a:r>
          </a:p>
          <a:p>
            <a:pPr algn="l"/>
            <a:r>
              <a:rPr lang="en-IN" sz="1600" b="1" dirty="0"/>
              <a:t>Violation of Feature Independence Assumption</a:t>
            </a:r>
            <a:r>
              <a:rPr lang="en-IN" sz="1600" dirty="0"/>
              <a:t> </a:t>
            </a:r>
          </a:p>
          <a:p>
            <a:pPr lvl="1" algn="l"/>
            <a:r>
              <a:rPr lang="en-IN" sz="1600" dirty="0"/>
              <a:t>Words in text are often correlated (e.g., "machine" and "learning"). </a:t>
            </a:r>
          </a:p>
          <a:p>
            <a:pPr lvl="1" algn="l"/>
            <a:r>
              <a:rPr lang="en-IN" sz="1600" dirty="0"/>
              <a:t>The independence assumption is violated, reducing prediction accuracy. </a:t>
            </a:r>
          </a:p>
          <a:p>
            <a:pPr algn="l"/>
            <a:r>
              <a:rPr lang="en-IN" sz="1600" b="1" dirty="0"/>
              <a:t>Improper Data Preprocessing</a:t>
            </a:r>
            <a:r>
              <a:rPr lang="en-IN" sz="1600" dirty="0"/>
              <a:t> </a:t>
            </a:r>
          </a:p>
          <a:p>
            <a:pPr lvl="1" algn="l"/>
            <a:r>
              <a:rPr lang="en-IN" sz="1600" dirty="0"/>
              <a:t>Presence of stop words, punctuation, special characters, and duplicate words. </a:t>
            </a:r>
          </a:p>
          <a:p>
            <a:pPr lvl="1" algn="l"/>
            <a:r>
              <a:rPr lang="en-IN" sz="1600" dirty="0"/>
              <a:t>Lack of stemming or lemmatization increases unnecessary features.</a:t>
            </a:r>
          </a:p>
          <a:p>
            <a:endParaRPr lang="en-IN" sz="1600" dirty="0"/>
          </a:p>
        </p:txBody>
      </p:sp>
    </p:spTree>
    <p:extLst>
      <p:ext uri="{BB962C8B-B14F-4D97-AF65-F5344CB8AC3E}">
        <p14:creationId xmlns:p14="http://schemas.microsoft.com/office/powerpoint/2010/main" val="2572693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579130-995A-9D92-3675-7D11DE8631EC}"/>
              </a:ext>
            </a:extLst>
          </p:cNvPr>
          <p:cNvSpPr txBox="1"/>
          <p:nvPr/>
        </p:nvSpPr>
        <p:spPr>
          <a:xfrm>
            <a:off x="648928" y="751344"/>
            <a:ext cx="10628671" cy="5355312"/>
          </a:xfrm>
          <a:prstGeom prst="rect">
            <a:avLst/>
          </a:prstGeom>
          <a:noFill/>
        </p:spPr>
        <p:txBody>
          <a:bodyPr wrap="square">
            <a:spAutoFit/>
          </a:bodyPr>
          <a:lstStyle/>
          <a:p>
            <a:pPr>
              <a:buFont typeface="+mj-lt"/>
              <a:buAutoNum type="arabicPeriod"/>
            </a:pPr>
            <a:r>
              <a:rPr lang="en-IN" b="1" dirty="0"/>
              <a:t>Noisy and Irrelevant Features</a:t>
            </a:r>
            <a:r>
              <a:rPr lang="en-IN" dirty="0"/>
              <a:t> </a:t>
            </a:r>
          </a:p>
          <a:p>
            <a:pPr marL="742950" lvl="1" indent="-285750">
              <a:buFont typeface="+mj-lt"/>
              <a:buAutoNum type="arabicPeriod"/>
            </a:pPr>
            <a:r>
              <a:rPr lang="en-IN" dirty="0"/>
              <a:t>Unimportant words introduce noise into the model. </a:t>
            </a:r>
          </a:p>
          <a:p>
            <a:pPr marL="742950" lvl="1" indent="-285750">
              <a:buFont typeface="+mj-lt"/>
              <a:buAutoNum type="arabicPeriod"/>
            </a:pPr>
            <a:r>
              <a:rPr lang="en-IN" dirty="0"/>
              <a:t>Large vocabularies increase computational complexity and decrease accuracy. </a:t>
            </a:r>
          </a:p>
          <a:p>
            <a:pPr>
              <a:buFont typeface="+mj-lt"/>
              <a:buAutoNum type="arabicPeriod"/>
            </a:pPr>
            <a:r>
              <a:rPr lang="en-IN" b="1" dirty="0"/>
              <a:t>Imbalanced Dataset</a:t>
            </a:r>
            <a:r>
              <a:rPr lang="en-IN" dirty="0"/>
              <a:t> </a:t>
            </a:r>
          </a:p>
          <a:p>
            <a:pPr marL="742950" lvl="1" indent="-285750">
              <a:buFont typeface="+mj-lt"/>
              <a:buAutoNum type="arabicPeriod"/>
            </a:pPr>
            <a:r>
              <a:rPr lang="en-IN" dirty="0"/>
              <a:t>One class has significantly more samples than another. </a:t>
            </a:r>
          </a:p>
          <a:p>
            <a:pPr marL="742950" lvl="1" indent="-285750">
              <a:buFont typeface="+mj-lt"/>
              <a:buAutoNum type="arabicPeriod"/>
            </a:pPr>
            <a:r>
              <a:rPr lang="en-IN" dirty="0"/>
              <a:t>The classifier becomes biased toward the majority class. </a:t>
            </a:r>
          </a:p>
          <a:p>
            <a:pPr>
              <a:buFont typeface="+mj-lt"/>
              <a:buAutoNum type="arabicPeriod"/>
            </a:pPr>
            <a:r>
              <a:rPr lang="en-IN" b="1" dirty="0"/>
              <a:t>Zero Probability Problem</a:t>
            </a:r>
            <a:r>
              <a:rPr lang="en-IN" dirty="0"/>
              <a:t> </a:t>
            </a:r>
          </a:p>
          <a:p>
            <a:pPr marL="742950" lvl="1" indent="-285750">
              <a:buFont typeface="+mj-lt"/>
              <a:buAutoNum type="arabicPeriod"/>
            </a:pPr>
            <a:r>
              <a:rPr lang="en-IN" dirty="0"/>
              <a:t>If a word never appears in the training data for a class, its probability becomes zero, affecting prediction. </a:t>
            </a:r>
          </a:p>
          <a:p>
            <a:pPr>
              <a:buNone/>
            </a:pPr>
            <a:br>
              <a:rPr lang="en-IN" dirty="0"/>
            </a:br>
            <a:endParaRPr lang="en-IN" dirty="0"/>
          </a:p>
          <a:p>
            <a:pPr>
              <a:buNone/>
            </a:pPr>
            <a:r>
              <a:rPr lang="en-IN" b="1" dirty="0"/>
              <a:t>Debugging Strategies</a:t>
            </a:r>
          </a:p>
          <a:p>
            <a:pPr>
              <a:buFont typeface="Arial" panose="020B0604020202020204" pitchFamily="34" charset="0"/>
              <a:buChar char="•"/>
            </a:pPr>
            <a:r>
              <a:rPr lang="en-IN" dirty="0" err="1"/>
              <a:t>Analyze</a:t>
            </a:r>
            <a:r>
              <a:rPr lang="en-IN" dirty="0"/>
              <a:t> the confusion matrix to identify misclassified classes. </a:t>
            </a:r>
          </a:p>
          <a:p>
            <a:pPr>
              <a:buFont typeface="Arial" panose="020B0604020202020204" pitchFamily="34" charset="0"/>
              <a:buChar char="•"/>
            </a:pPr>
            <a:r>
              <a:rPr lang="en-IN" dirty="0"/>
              <a:t>Inspect feature frequencies and remove irrelevant words. </a:t>
            </a:r>
          </a:p>
          <a:p>
            <a:pPr>
              <a:buFont typeface="Arial" panose="020B0604020202020204" pitchFamily="34" charset="0"/>
              <a:buChar char="•"/>
            </a:pPr>
            <a:r>
              <a:rPr lang="en-IN" dirty="0"/>
              <a:t>Verify preprocessing steps such as tokenization, stop-word removal, and stemming. </a:t>
            </a:r>
          </a:p>
          <a:p>
            <a:pPr>
              <a:buFont typeface="Arial" panose="020B0604020202020204" pitchFamily="34" charset="0"/>
              <a:buChar char="•"/>
            </a:pPr>
            <a:r>
              <a:rPr lang="en-IN" dirty="0"/>
              <a:t>Check class distribution to detect imbalance. </a:t>
            </a:r>
          </a:p>
          <a:p>
            <a:pPr>
              <a:buFont typeface="Arial" panose="020B0604020202020204" pitchFamily="34" charset="0"/>
              <a:buChar char="•"/>
            </a:pPr>
            <a:r>
              <a:rPr lang="en-IN" dirty="0"/>
              <a:t>Evaluate the model using </a:t>
            </a:r>
            <a:r>
              <a:rPr lang="en-IN" b="1" dirty="0"/>
              <a:t>accuracy, precision, recall, and F1-score</a:t>
            </a:r>
            <a:r>
              <a:rPr lang="en-IN" dirty="0"/>
              <a:t> instead of accuracy alone. </a:t>
            </a:r>
          </a:p>
          <a:p>
            <a:pPr>
              <a:buFont typeface="Arial" panose="020B0604020202020204" pitchFamily="34" charset="0"/>
              <a:buChar char="•"/>
            </a:pPr>
            <a:r>
              <a:rPr lang="en-IN" dirty="0"/>
              <a:t>Perform cross-validation to ensure consistent performance. </a:t>
            </a:r>
          </a:p>
          <a:p>
            <a:pPr>
              <a:buNone/>
            </a:pPr>
            <a:br>
              <a:rPr lang="en-IN" dirty="0"/>
            </a:br>
            <a:endParaRPr lang="en-IN" dirty="0"/>
          </a:p>
        </p:txBody>
      </p:sp>
    </p:spTree>
    <p:extLst>
      <p:ext uri="{BB962C8B-B14F-4D97-AF65-F5344CB8AC3E}">
        <p14:creationId xmlns:p14="http://schemas.microsoft.com/office/powerpoint/2010/main" val="2276146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15816B-5E35-7FFF-705F-A8044EACEFDD}"/>
              </a:ext>
            </a:extLst>
          </p:cNvPr>
          <p:cNvSpPr txBox="1"/>
          <p:nvPr/>
        </p:nvSpPr>
        <p:spPr>
          <a:xfrm>
            <a:off x="639096" y="335845"/>
            <a:ext cx="11257935" cy="6186309"/>
          </a:xfrm>
          <a:prstGeom prst="rect">
            <a:avLst/>
          </a:prstGeom>
          <a:noFill/>
        </p:spPr>
        <p:txBody>
          <a:bodyPr wrap="square">
            <a:spAutoFit/>
          </a:bodyPr>
          <a:lstStyle/>
          <a:p>
            <a:pPr>
              <a:buNone/>
            </a:pPr>
            <a:r>
              <a:rPr lang="en-IN" b="1" dirty="0"/>
              <a:t>Suggested Improvements</a:t>
            </a:r>
          </a:p>
          <a:p>
            <a:pPr>
              <a:buFont typeface="+mj-lt"/>
              <a:buAutoNum type="arabicPeriod"/>
            </a:pPr>
            <a:r>
              <a:rPr lang="en-IN" b="1" dirty="0"/>
              <a:t>Feature Selection</a:t>
            </a:r>
            <a:r>
              <a:rPr lang="en-IN" dirty="0"/>
              <a:t> </a:t>
            </a:r>
          </a:p>
          <a:p>
            <a:pPr marL="742950" lvl="1" indent="-285750">
              <a:buFont typeface="+mj-lt"/>
              <a:buAutoNum type="arabicPeriod"/>
            </a:pPr>
            <a:r>
              <a:rPr lang="en-IN" dirty="0"/>
              <a:t>Use </a:t>
            </a:r>
            <a:r>
              <a:rPr lang="en-IN" b="1" dirty="0"/>
              <a:t>Chi-Square</a:t>
            </a:r>
            <a:r>
              <a:rPr lang="en-IN" dirty="0"/>
              <a:t>, </a:t>
            </a:r>
            <a:r>
              <a:rPr lang="en-IN" b="1" dirty="0"/>
              <a:t>Information Gain</a:t>
            </a:r>
            <a:r>
              <a:rPr lang="en-IN" dirty="0"/>
              <a:t>, or </a:t>
            </a:r>
            <a:r>
              <a:rPr lang="en-IN" b="1" dirty="0"/>
              <a:t>TF-IDF</a:t>
            </a:r>
            <a:r>
              <a:rPr lang="en-IN" dirty="0"/>
              <a:t> to retain only important features. </a:t>
            </a:r>
          </a:p>
          <a:p>
            <a:pPr marL="742950" lvl="1" indent="-285750">
              <a:buFont typeface="+mj-lt"/>
              <a:buAutoNum type="arabicPeriod"/>
            </a:pPr>
            <a:r>
              <a:rPr lang="en-IN" dirty="0"/>
              <a:t>Remove low-frequency and irrelevant words. </a:t>
            </a:r>
          </a:p>
          <a:p>
            <a:pPr>
              <a:buFont typeface="+mj-lt"/>
              <a:buAutoNum type="arabicPeriod"/>
            </a:pPr>
            <a:r>
              <a:rPr lang="en-IN" b="1" dirty="0"/>
              <a:t>Smoothing Techniques</a:t>
            </a:r>
            <a:r>
              <a:rPr lang="en-IN" dirty="0"/>
              <a:t> </a:t>
            </a:r>
          </a:p>
          <a:p>
            <a:pPr marL="742950" lvl="1" indent="-285750">
              <a:buFont typeface="+mj-lt"/>
              <a:buAutoNum type="arabicPeriod"/>
            </a:pPr>
            <a:r>
              <a:rPr lang="en-IN" dirty="0"/>
              <a:t>Apply </a:t>
            </a:r>
            <a:r>
              <a:rPr lang="en-IN" b="1" dirty="0"/>
              <a:t>Laplace (Add-One) Smoothing</a:t>
            </a:r>
            <a:r>
              <a:rPr lang="en-IN" dirty="0"/>
              <a:t> to avoid zero probabilities for unseen words. </a:t>
            </a:r>
          </a:p>
          <a:p>
            <a:pPr marL="742950" lvl="1" indent="-285750">
              <a:buFont typeface="+mj-lt"/>
              <a:buAutoNum type="arabicPeriod"/>
            </a:pPr>
            <a:r>
              <a:rPr lang="en-IN" dirty="0"/>
              <a:t>Improves robustness when encountering new vocabulary. </a:t>
            </a:r>
          </a:p>
          <a:p>
            <a:pPr>
              <a:buFont typeface="+mj-lt"/>
              <a:buAutoNum type="arabicPeriod"/>
            </a:pPr>
            <a:r>
              <a:rPr lang="en-IN" b="1" dirty="0"/>
              <a:t>Data Balancing</a:t>
            </a:r>
            <a:r>
              <a:rPr lang="en-IN" dirty="0"/>
              <a:t> </a:t>
            </a:r>
          </a:p>
          <a:p>
            <a:pPr marL="742950" lvl="1" indent="-285750">
              <a:buFont typeface="+mj-lt"/>
              <a:buAutoNum type="arabicPeriod"/>
            </a:pPr>
            <a:r>
              <a:rPr lang="en-IN" dirty="0"/>
              <a:t>Use </a:t>
            </a:r>
            <a:r>
              <a:rPr lang="en-IN" b="1" dirty="0"/>
              <a:t>oversampling</a:t>
            </a:r>
            <a:r>
              <a:rPr lang="en-IN" dirty="0"/>
              <a:t> (e.g., SMOTE) or </a:t>
            </a:r>
            <a:r>
              <a:rPr lang="en-IN" b="1" dirty="0" err="1"/>
              <a:t>undersampling</a:t>
            </a:r>
            <a:r>
              <a:rPr lang="en-IN" dirty="0"/>
              <a:t> techniques. </a:t>
            </a:r>
          </a:p>
          <a:p>
            <a:pPr marL="742950" lvl="1" indent="-285750">
              <a:buFont typeface="+mj-lt"/>
              <a:buAutoNum type="arabicPeriod"/>
            </a:pPr>
            <a:r>
              <a:rPr lang="en-IN" dirty="0"/>
              <a:t>Ensures equal representation of all classes. </a:t>
            </a:r>
          </a:p>
          <a:p>
            <a:pPr>
              <a:buFont typeface="+mj-lt"/>
              <a:buAutoNum type="arabicPeriod"/>
            </a:pPr>
            <a:r>
              <a:rPr lang="en-IN" b="1" dirty="0"/>
              <a:t>Better Text Preprocessing</a:t>
            </a:r>
            <a:r>
              <a:rPr lang="en-IN" dirty="0"/>
              <a:t> </a:t>
            </a:r>
          </a:p>
          <a:p>
            <a:pPr marL="742950" lvl="1" indent="-285750">
              <a:buFont typeface="+mj-lt"/>
              <a:buAutoNum type="arabicPeriod"/>
            </a:pPr>
            <a:r>
              <a:rPr lang="en-IN" dirty="0"/>
              <a:t>Perform tokenization, lowercasing, stop-word removal, stemming, and lemmatization. </a:t>
            </a:r>
          </a:p>
          <a:p>
            <a:pPr marL="742950" lvl="1" indent="-285750">
              <a:buFont typeface="+mj-lt"/>
              <a:buAutoNum type="arabicPeriod"/>
            </a:pPr>
            <a:r>
              <a:rPr lang="en-IN" dirty="0"/>
              <a:t>Normalize text before training. </a:t>
            </a:r>
          </a:p>
          <a:p>
            <a:pPr>
              <a:buFont typeface="+mj-lt"/>
              <a:buAutoNum type="arabicPeriod"/>
            </a:pPr>
            <a:r>
              <a:rPr lang="en-IN" b="1" dirty="0"/>
              <a:t>Model Evaluation</a:t>
            </a:r>
            <a:r>
              <a:rPr lang="en-IN" dirty="0"/>
              <a:t> </a:t>
            </a:r>
          </a:p>
          <a:p>
            <a:pPr marL="742950" lvl="1" indent="-285750">
              <a:buFont typeface="+mj-lt"/>
              <a:buAutoNum type="arabicPeriod"/>
            </a:pPr>
            <a:r>
              <a:rPr lang="en-IN" dirty="0"/>
              <a:t>Use k-fold cross-validation and tune preprocessing parameters to improve generalization. </a:t>
            </a:r>
          </a:p>
          <a:p>
            <a:pPr>
              <a:buNone/>
            </a:pPr>
            <a:br>
              <a:rPr lang="en-IN" dirty="0"/>
            </a:br>
            <a:endParaRPr lang="en-IN" dirty="0"/>
          </a:p>
          <a:p>
            <a:pPr>
              <a:buNone/>
            </a:pPr>
            <a:r>
              <a:rPr lang="en-IN" b="1" dirty="0"/>
              <a:t>Conclusion</a:t>
            </a:r>
          </a:p>
          <a:p>
            <a:pPr>
              <a:buNone/>
            </a:pPr>
            <a:r>
              <a:rPr lang="en-IN" dirty="0"/>
              <a:t>The poor performance of a Naïve Bayes classifier on real-world text data is mainly due to </a:t>
            </a:r>
            <a:r>
              <a:rPr lang="en-IN" b="1" dirty="0"/>
              <a:t>feature dependence, noisy data, poor preprocessing, class imbalance, and zero probability issues</a:t>
            </a:r>
            <a:r>
              <a:rPr lang="en-IN" dirty="0"/>
              <a:t>. These problems can be addressed through </a:t>
            </a:r>
            <a:r>
              <a:rPr lang="en-IN" b="1" dirty="0"/>
              <a:t>feature selection, Laplace smoothing, effective text preprocessing, TF-IDF representation, and data balancing techniques</a:t>
            </a:r>
            <a:r>
              <a:rPr lang="en-IN" dirty="0"/>
              <a:t>, resulting in higher classification accuracy and better generalization.</a:t>
            </a:r>
          </a:p>
        </p:txBody>
      </p:sp>
    </p:spTree>
    <p:extLst>
      <p:ext uri="{BB962C8B-B14F-4D97-AF65-F5344CB8AC3E}">
        <p14:creationId xmlns:p14="http://schemas.microsoft.com/office/powerpoint/2010/main" val="2037135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E744-7AB8-AE11-AFE5-5F6E5AA6AA91}"/>
              </a:ext>
            </a:extLst>
          </p:cNvPr>
          <p:cNvSpPr>
            <a:spLocks noGrp="1"/>
          </p:cNvSpPr>
          <p:nvPr>
            <p:ph type="ctrTitle"/>
          </p:nvPr>
        </p:nvSpPr>
        <p:spPr/>
        <p:txBody>
          <a:bodyPr>
            <a:noAutofit/>
          </a:bodyPr>
          <a:lstStyle/>
          <a:p>
            <a:r>
              <a:rPr lang="en-IN" sz="2400" b="1" dirty="0"/>
              <a:t>15. A reinforcement learning agent trained to solve a navigation problem fails to learn an optimal policy and shows erratic </a:t>
            </a:r>
            <a:r>
              <a:rPr lang="en-IN" sz="2400" b="1" dirty="0" err="1"/>
              <a:t>behavior</a:t>
            </a:r>
            <a:r>
              <a:rPr lang="en-IN" sz="2400" b="1" dirty="0"/>
              <a:t>. </a:t>
            </a:r>
            <a:r>
              <a:rPr lang="en-IN" sz="2400" b="1" dirty="0" err="1"/>
              <a:t>Analyze</a:t>
            </a:r>
            <a:r>
              <a:rPr lang="en-IN" sz="2400" b="1" dirty="0"/>
              <a:t> possible causes such as sparse rewards, improper exploration-exploitation balance, or incorrect reward function design. Describe debugging approaches and recommend optimization strategies like reward shaping, epsilon decay tuning, and policy optimization methods to improve learning performance.  </a:t>
            </a:r>
          </a:p>
        </p:txBody>
      </p:sp>
      <p:sp>
        <p:nvSpPr>
          <p:cNvPr id="3" name="Subtitle 2">
            <a:extLst>
              <a:ext uri="{FF2B5EF4-FFF2-40B4-BE49-F238E27FC236}">
                <a16:creationId xmlns:a16="http://schemas.microsoft.com/office/drawing/2014/main" id="{27D94860-2FAE-2BDF-A00C-A2E18B567D91}"/>
              </a:ext>
            </a:extLst>
          </p:cNvPr>
          <p:cNvSpPr>
            <a:spLocks noGrp="1"/>
          </p:cNvSpPr>
          <p:nvPr>
            <p:ph type="subTitle" idx="1"/>
          </p:nvPr>
        </p:nvSpPr>
        <p:spPr>
          <a:xfrm>
            <a:off x="1524000" y="3602038"/>
            <a:ext cx="9144000" cy="2572620"/>
          </a:xfrm>
        </p:spPr>
        <p:txBody>
          <a:bodyPr>
            <a:noAutofit/>
          </a:bodyPr>
          <a:lstStyle/>
          <a:p>
            <a:pPr algn="l"/>
            <a:r>
              <a:rPr lang="en-IN" sz="2000" b="1" dirty="0"/>
              <a:t>Possible Causes</a:t>
            </a:r>
          </a:p>
          <a:p>
            <a:pPr algn="l"/>
            <a:r>
              <a:rPr lang="en-IN" sz="2000" b="1" dirty="0"/>
              <a:t>Sparse Rewards</a:t>
            </a:r>
            <a:r>
              <a:rPr lang="en-IN" sz="2000" dirty="0"/>
              <a:t> </a:t>
            </a:r>
          </a:p>
          <a:p>
            <a:pPr lvl="1" algn="l"/>
            <a:r>
              <a:rPr lang="en-IN" dirty="0"/>
              <a:t>The agent receives rewards only after reaching the goal. </a:t>
            </a:r>
          </a:p>
          <a:p>
            <a:pPr lvl="1" algn="l"/>
            <a:r>
              <a:rPr lang="en-IN" dirty="0"/>
              <a:t>It gets little feedback during training, making learning very slow. </a:t>
            </a:r>
          </a:p>
          <a:p>
            <a:pPr algn="l"/>
            <a:r>
              <a:rPr lang="en-IN" sz="2000" b="1" dirty="0"/>
              <a:t>Improper Exploration–Exploitation Balance</a:t>
            </a:r>
            <a:r>
              <a:rPr lang="en-IN" sz="2000" dirty="0"/>
              <a:t> </a:t>
            </a:r>
          </a:p>
          <a:p>
            <a:pPr lvl="1" algn="l"/>
            <a:r>
              <a:rPr lang="en-IN" dirty="0"/>
              <a:t>Too much exploration causes random actions. </a:t>
            </a:r>
          </a:p>
          <a:p>
            <a:pPr lvl="1" algn="l"/>
            <a:r>
              <a:rPr lang="en-IN" dirty="0"/>
              <a:t>Too much exploitation prevents discovering better paths.</a:t>
            </a:r>
          </a:p>
          <a:p>
            <a:pPr algn="l"/>
            <a:endParaRPr lang="en-IN" sz="2000" dirty="0"/>
          </a:p>
        </p:txBody>
      </p:sp>
    </p:spTree>
    <p:extLst>
      <p:ext uri="{BB962C8B-B14F-4D97-AF65-F5344CB8AC3E}">
        <p14:creationId xmlns:p14="http://schemas.microsoft.com/office/powerpoint/2010/main" val="1099597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5B1A1E-4163-01C4-ED68-D7C818FFE848}"/>
              </a:ext>
            </a:extLst>
          </p:cNvPr>
          <p:cNvSpPr txBox="1"/>
          <p:nvPr/>
        </p:nvSpPr>
        <p:spPr>
          <a:xfrm>
            <a:off x="757085" y="680738"/>
            <a:ext cx="10343536" cy="5355312"/>
          </a:xfrm>
          <a:prstGeom prst="rect">
            <a:avLst/>
          </a:prstGeom>
          <a:noFill/>
        </p:spPr>
        <p:txBody>
          <a:bodyPr wrap="square">
            <a:spAutoFit/>
          </a:bodyPr>
          <a:lstStyle/>
          <a:p>
            <a:pPr>
              <a:buFont typeface="+mj-lt"/>
              <a:buAutoNum type="arabicPeriod"/>
            </a:pPr>
            <a:r>
              <a:rPr lang="en-IN" b="1" dirty="0"/>
              <a:t>Incorrect Reward Function Design</a:t>
            </a:r>
            <a:r>
              <a:rPr lang="en-IN" dirty="0"/>
              <a:t> </a:t>
            </a:r>
          </a:p>
          <a:p>
            <a:pPr marL="742950" lvl="1" indent="-285750">
              <a:buFont typeface="+mj-lt"/>
              <a:buAutoNum type="arabicPeriod"/>
            </a:pPr>
            <a:r>
              <a:rPr lang="en-IN" dirty="0"/>
              <a:t>Rewards may encourage undesirable </a:t>
            </a:r>
            <a:r>
              <a:rPr lang="en-IN" dirty="0" err="1"/>
              <a:t>behavior</a:t>
            </a:r>
            <a:r>
              <a:rPr lang="en-IN" dirty="0"/>
              <a:t>. </a:t>
            </a:r>
          </a:p>
          <a:p>
            <a:pPr marL="742950" lvl="1" indent="-285750">
              <a:buFont typeface="+mj-lt"/>
              <a:buAutoNum type="arabicPeriod"/>
            </a:pPr>
            <a:r>
              <a:rPr lang="en-IN" dirty="0"/>
              <a:t>Poorly designed rewards can lead to suboptimal policies. </a:t>
            </a:r>
          </a:p>
          <a:p>
            <a:pPr>
              <a:buFont typeface="+mj-lt"/>
              <a:buAutoNum type="arabicPeriod"/>
            </a:pPr>
            <a:r>
              <a:rPr lang="en-IN" b="1" dirty="0"/>
              <a:t>Insufficient Training Episodes</a:t>
            </a:r>
            <a:r>
              <a:rPr lang="en-IN" dirty="0"/>
              <a:t> </a:t>
            </a:r>
          </a:p>
          <a:p>
            <a:pPr marL="742950" lvl="1" indent="-285750">
              <a:buFont typeface="+mj-lt"/>
              <a:buAutoNum type="arabicPeriod"/>
            </a:pPr>
            <a:r>
              <a:rPr lang="en-IN" dirty="0"/>
              <a:t>The agent has not interacted with the environment enough to learn the optimal policy. </a:t>
            </a:r>
          </a:p>
          <a:p>
            <a:pPr>
              <a:buFont typeface="+mj-lt"/>
              <a:buAutoNum type="arabicPeriod"/>
            </a:pPr>
            <a:r>
              <a:rPr lang="en-IN" b="1" dirty="0"/>
              <a:t>Poor Hyperparameter Settings</a:t>
            </a:r>
            <a:r>
              <a:rPr lang="en-IN" dirty="0"/>
              <a:t> </a:t>
            </a:r>
          </a:p>
          <a:p>
            <a:pPr marL="742950" lvl="1" indent="-285750">
              <a:buFont typeface="+mj-lt"/>
              <a:buAutoNum type="arabicPeriod"/>
            </a:pPr>
            <a:r>
              <a:rPr lang="en-IN" dirty="0"/>
              <a:t>An inappropriate learning rate, discount factor (γ), or exploration rate (ε) can slow or destabilize learning. </a:t>
            </a:r>
          </a:p>
          <a:p>
            <a:pPr>
              <a:buFont typeface="+mj-lt"/>
              <a:buAutoNum type="arabicPeriod"/>
            </a:pPr>
            <a:r>
              <a:rPr lang="en-IN" b="1" dirty="0"/>
              <a:t>Complex or Noisy Environment</a:t>
            </a:r>
            <a:r>
              <a:rPr lang="en-IN" dirty="0"/>
              <a:t> </a:t>
            </a:r>
          </a:p>
          <a:p>
            <a:pPr marL="742950" lvl="1" indent="-285750">
              <a:buFont typeface="+mj-lt"/>
              <a:buAutoNum type="arabicPeriod"/>
            </a:pPr>
            <a:r>
              <a:rPr lang="en-IN" dirty="0"/>
              <a:t>Large state spaces or stochastic environments make learning more difficult. </a:t>
            </a:r>
          </a:p>
          <a:p>
            <a:pPr>
              <a:buNone/>
            </a:pPr>
            <a:br>
              <a:rPr lang="en-IN" dirty="0"/>
            </a:br>
            <a:endParaRPr lang="en-IN" dirty="0"/>
          </a:p>
          <a:p>
            <a:pPr>
              <a:buNone/>
            </a:pPr>
            <a:r>
              <a:rPr lang="en-IN" b="1" dirty="0"/>
              <a:t>Debugging Approaches</a:t>
            </a:r>
          </a:p>
          <a:p>
            <a:pPr>
              <a:buFont typeface="Arial" panose="020B0604020202020204" pitchFamily="34" charset="0"/>
              <a:buChar char="•"/>
            </a:pPr>
            <a:r>
              <a:rPr lang="en-IN" dirty="0"/>
              <a:t>Monitor the cumulative reward per episode. </a:t>
            </a:r>
          </a:p>
          <a:p>
            <a:pPr>
              <a:buFont typeface="Arial" panose="020B0604020202020204" pitchFamily="34" charset="0"/>
              <a:buChar char="•"/>
            </a:pPr>
            <a:r>
              <a:rPr lang="en-IN" dirty="0"/>
              <a:t>Visualize the agent's navigation path to detect repeated or random actions. </a:t>
            </a:r>
          </a:p>
          <a:p>
            <a:pPr>
              <a:buFont typeface="Arial" panose="020B0604020202020204" pitchFamily="34" charset="0"/>
              <a:buChar char="•"/>
            </a:pPr>
            <a:r>
              <a:rPr lang="en-IN" dirty="0"/>
              <a:t>Check the reward function for unintended incentives. </a:t>
            </a:r>
          </a:p>
          <a:p>
            <a:pPr>
              <a:buFont typeface="Arial" panose="020B0604020202020204" pitchFamily="34" charset="0"/>
              <a:buChar char="•"/>
            </a:pPr>
            <a:r>
              <a:rPr lang="en-IN" dirty="0"/>
              <a:t>Track exploration rate (ε) and action distribution. </a:t>
            </a:r>
          </a:p>
          <a:p>
            <a:pPr>
              <a:buFont typeface="Arial" panose="020B0604020202020204" pitchFamily="34" charset="0"/>
              <a:buChar char="•"/>
            </a:pPr>
            <a:r>
              <a:rPr lang="en-IN" dirty="0"/>
              <a:t>Evaluate learning curves to detect convergence or instability. </a:t>
            </a:r>
          </a:p>
          <a:p>
            <a:pPr>
              <a:buFont typeface="Arial" panose="020B0604020202020204" pitchFamily="34" charset="0"/>
              <a:buChar char="•"/>
            </a:pPr>
            <a:r>
              <a:rPr lang="en-IN" dirty="0"/>
              <a:t>Test the agent in simpler environments before increasing complexity.</a:t>
            </a:r>
          </a:p>
        </p:txBody>
      </p:sp>
    </p:spTree>
    <p:extLst>
      <p:ext uri="{BB962C8B-B14F-4D97-AF65-F5344CB8AC3E}">
        <p14:creationId xmlns:p14="http://schemas.microsoft.com/office/powerpoint/2010/main" val="3645775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C1C6CE-D26C-6492-F6FA-8A96BF02732A}"/>
              </a:ext>
            </a:extLst>
          </p:cNvPr>
          <p:cNvSpPr txBox="1"/>
          <p:nvPr/>
        </p:nvSpPr>
        <p:spPr>
          <a:xfrm>
            <a:off x="78658" y="196071"/>
            <a:ext cx="12113342" cy="6186309"/>
          </a:xfrm>
          <a:prstGeom prst="rect">
            <a:avLst/>
          </a:prstGeom>
          <a:noFill/>
        </p:spPr>
        <p:txBody>
          <a:bodyPr wrap="square">
            <a:spAutoFit/>
          </a:bodyPr>
          <a:lstStyle/>
          <a:p>
            <a:pPr>
              <a:buNone/>
            </a:pPr>
            <a:r>
              <a:rPr lang="en-IN" b="1" dirty="0"/>
              <a:t>Optimization Strategies</a:t>
            </a:r>
          </a:p>
          <a:p>
            <a:pPr>
              <a:buFont typeface="+mj-lt"/>
              <a:buAutoNum type="arabicPeriod"/>
            </a:pPr>
            <a:r>
              <a:rPr lang="en-IN" b="1" dirty="0"/>
              <a:t>Reward Shaping</a:t>
            </a:r>
            <a:r>
              <a:rPr lang="en-IN" dirty="0"/>
              <a:t> </a:t>
            </a:r>
          </a:p>
          <a:p>
            <a:pPr marL="742950" lvl="1" indent="-285750">
              <a:buFont typeface="+mj-lt"/>
              <a:buAutoNum type="arabicPeriod"/>
            </a:pPr>
            <a:r>
              <a:rPr lang="en-IN" dirty="0"/>
              <a:t>Provide intermediate rewards for moving toward the goal. </a:t>
            </a:r>
          </a:p>
          <a:p>
            <a:pPr marL="742950" lvl="1" indent="-285750">
              <a:buFont typeface="+mj-lt"/>
              <a:buAutoNum type="arabicPeriod"/>
            </a:pPr>
            <a:r>
              <a:rPr lang="en-IN" dirty="0"/>
              <a:t>Penalize collisions or unnecessary movements. </a:t>
            </a:r>
          </a:p>
          <a:p>
            <a:pPr marL="742950" lvl="1" indent="-285750">
              <a:buFont typeface="+mj-lt"/>
              <a:buAutoNum type="arabicPeriod"/>
            </a:pPr>
            <a:r>
              <a:rPr lang="en-IN" dirty="0"/>
              <a:t>Speeds up learning by giving frequent feedback. </a:t>
            </a:r>
          </a:p>
          <a:p>
            <a:pPr>
              <a:buFont typeface="+mj-lt"/>
              <a:buAutoNum type="arabicPeriod"/>
            </a:pPr>
            <a:r>
              <a:rPr lang="en-IN" b="1" dirty="0"/>
              <a:t>Epsilon Decay Tuning</a:t>
            </a:r>
            <a:r>
              <a:rPr lang="en-IN" dirty="0"/>
              <a:t> </a:t>
            </a:r>
          </a:p>
          <a:p>
            <a:pPr marL="742950" lvl="1" indent="-285750">
              <a:buFont typeface="+mj-lt"/>
              <a:buAutoNum type="arabicPeriod"/>
            </a:pPr>
            <a:r>
              <a:rPr lang="en-IN" dirty="0"/>
              <a:t>Start with a high ε for exploration. </a:t>
            </a:r>
          </a:p>
          <a:p>
            <a:pPr marL="742950" lvl="1" indent="-285750">
              <a:buFont typeface="+mj-lt"/>
              <a:buAutoNum type="arabicPeriod"/>
            </a:pPr>
            <a:r>
              <a:rPr lang="en-IN" dirty="0"/>
              <a:t>Gradually decrease ε so the agent exploits learned knowledge over time. </a:t>
            </a:r>
          </a:p>
          <a:p>
            <a:pPr>
              <a:buFont typeface="+mj-lt"/>
              <a:buAutoNum type="arabicPeriod"/>
            </a:pPr>
            <a:r>
              <a:rPr lang="en-IN" b="1" dirty="0"/>
              <a:t>Policy Optimization Methods</a:t>
            </a:r>
            <a:r>
              <a:rPr lang="en-IN" dirty="0"/>
              <a:t> </a:t>
            </a:r>
          </a:p>
          <a:p>
            <a:pPr marL="742950" lvl="1" indent="-285750">
              <a:buFont typeface="+mj-lt"/>
              <a:buAutoNum type="arabicPeriod"/>
            </a:pPr>
            <a:r>
              <a:rPr lang="en-IN" dirty="0"/>
              <a:t>Use advanced algorithms such as </a:t>
            </a:r>
            <a:r>
              <a:rPr lang="en-IN" b="1" dirty="0"/>
              <a:t>Policy Gradient</a:t>
            </a:r>
            <a:r>
              <a:rPr lang="en-IN" dirty="0"/>
              <a:t>, </a:t>
            </a:r>
            <a:r>
              <a:rPr lang="en-IN" b="1" dirty="0"/>
              <a:t>Proximal Policy Optimization (PPO)</a:t>
            </a:r>
            <a:r>
              <a:rPr lang="en-IN" dirty="0"/>
              <a:t>, or </a:t>
            </a:r>
            <a:r>
              <a:rPr lang="en-IN" b="1" dirty="0"/>
              <a:t>Actor-Critic</a:t>
            </a:r>
            <a:r>
              <a:rPr lang="en-IN" dirty="0"/>
              <a:t> methods. </a:t>
            </a:r>
          </a:p>
          <a:p>
            <a:pPr marL="742950" lvl="1" indent="-285750">
              <a:buFont typeface="+mj-lt"/>
              <a:buAutoNum type="arabicPeriod"/>
            </a:pPr>
            <a:r>
              <a:rPr lang="en-IN" dirty="0"/>
              <a:t>These methods often provide more stable and efficient learning than basic Q-learning in complex environments. </a:t>
            </a:r>
          </a:p>
          <a:p>
            <a:pPr>
              <a:buFont typeface="+mj-lt"/>
              <a:buAutoNum type="arabicPeriod"/>
            </a:pPr>
            <a:r>
              <a:rPr lang="en-IN" b="1" dirty="0"/>
              <a:t>Experience Replay</a:t>
            </a:r>
            <a:r>
              <a:rPr lang="en-IN" dirty="0"/>
              <a:t> </a:t>
            </a:r>
          </a:p>
          <a:p>
            <a:pPr marL="742950" lvl="1" indent="-285750">
              <a:buFont typeface="+mj-lt"/>
              <a:buAutoNum type="arabicPeriod"/>
            </a:pPr>
            <a:r>
              <a:rPr lang="en-IN" dirty="0"/>
              <a:t>Store and reuse previous experiences to improve learning efficiency and reduce correlations between samples. </a:t>
            </a:r>
          </a:p>
          <a:p>
            <a:pPr>
              <a:buFont typeface="+mj-lt"/>
              <a:buAutoNum type="arabicPeriod"/>
            </a:pPr>
            <a:r>
              <a:rPr lang="en-IN" b="1" dirty="0"/>
              <a:t>State Normalization</a:t>
            </a:r>
            <a:r>
              <a:rPr lang="en-IN" dirty="0"/>
              <a:t> </a:t>
            </a:r>
          </a:p>
          <a:p>
            <a:pPr marL="742950" lvl="1" indent="-285750">
              <a:buFont typeface="+mj-lt"/>
              <a:buAutoNum type="arabicPeriod"/>
            </a:pPr>
            <a:r>
              <a:rPr lang="en-IN" dirty="0"/>
              <a:t>Normalize input features to stabilize training and improve convergence. </a:t>
            </a:r>
          </a:p>
          <a:p>
            <a:pPr>
              <a:buNone/>
            </a:pPr>
            <a:br>
              <a:rPr lang="en-IN" dirty="0"/>
            </a:br>
            <a:endParaRPr lang="en-IN" dirty="0"/>
          </a:p>
          <a:p>
            <a:pPr>
              <a:buNone/>
            </a:pPr>
            <a:r>
              <a:rPr lang="en-IN" b="1" dirty="0"/>
              <a:t>Conclusion</a:t>
            </a:r>
          </a:p>
          <a:p>
            <a:pPr>
              <a:buNone/>
            </a:pPr>
            <a:r>
              <a:rPr lang="en-IN" dirty="0"/>
              <a:t>An RL agent may fail to learn an optimal navigation policy because of </a:t>
            </a:r>
            <a:r>
              <a:rPr lang="en-IN" b="1" dirty="0"/>
              <a:t>sparse rewards, poor exploration–exploitation balance, incorrect reward design, or unsuitable hyperparameters</a:t>
            </a:r>
            <a:r>
              <a:rPr lang="en-IN" dirty="0"/>
              <a:t>. Applying </a:t>
            </a:r>
            <a:r>
              <a:rPr lang="en-IN" b="1" dirty="0"/>
              <a:t>reward shaping, epsilon decay tuning, policy optimization algorithms (PPO/Actor-Critic), experience replay, and proper hyperparameter tuning</a:t>
            </a:r>
            <a:r>
              <a:rPr lang="en-IN" dirty="0"/>
              <a:t> significantly improves learning speed, stability, and overall navigation performance.</a:t>
            </a:r>
          </a:p>
        </p:txBody>
      </p:sp>
    </p:spTree>
    <p:extLst>
      <p:ext uri="{BB962C8B-B14F-4D97-AF65-F5344CB8AC3E}">
        <p14:creationId xmlns:p14="http://schemas.microsoft.com/office/powerpoint/2010/main" val="3555514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1296</Words>
  <Application>Microsoft Office PowerPoint</Application>
  <PresentationFormat>Widescreen</PresentationFormat>
  <Paragraphs>139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CO2AT3 DEBUGGING &amp; OPTIMIZATION TASK QUESTIONS</vt:lpstr>
      <vt:lpstr>13. A recurrent neural network (RNN) designed for time-series prediction shows inconsistent outputs and fails to capture long-term dependencies. Analyze possible causes such as vanishing gradients, insufficient sequence length, or improper architecture design. Describe debugging steps and propose optimization techniques such as using LSTM/GRU units, gradient clipping, and sequence normalization. </vt:lpstr>
      <vt:lpstr>PowerPoint Presentation</vt:lpstr>
      <vt:lpstr>PowerPoint Presentation</vt:lpstr>
      <vt:lpstr>14. A Naïve Bayes classifier used for text classification performs poorly when applied to real-world data containing noisy and irrelevant features. Examine possible issues such as violation of feature independence assumption, improper preprocessing, or imbalanced dataset. Explain debugging strategies and suggest improvements like feature selection, smoothing techniques, and data balancing methods. </vt:lpstr>
      <vt:lpstr>PowerPoint Presentation</vt:lpstr>
      <vt:lpstr>PowerPoint Presentation</vt:lpstr>
      <vt:lpstr>15. A reinforcement learning agent trained to solve a navigation problem fails to learn an optimal policy and shows erratic behavior. Analyze possible causes such as sparse rewards, improper exploration-exploitation balance, or incorrect reward function design. Describe debugging approaches and recommend optimization strategies like reward shaping, epsilon decay tuning, and policy optimization methods to improve learning performance.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pavan kumar</dc:creator>
  <cp:lastModifiedBy>pavan kumar</cp:lastModifiedBy>
  <cp:revision>1</cp:revision>
  <dcterms:created xsi:type="dcterms:W3CDTF">2026-07-28T04:13:15Z</dcterms:created>
  <dcterms:modified xsi:type="dcterms:W3CDTF">2026-07-28T04:20:33Z</dcterms:modified>
</cp:coreProperties>
</file>
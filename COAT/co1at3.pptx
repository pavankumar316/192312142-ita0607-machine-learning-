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4C9DC-B0B7-FEC6-1E9D-910960DAD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824880-D17C-1669-09D8-3E7852DFFF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A810A7-11AE-7B8A-E006-8EE8B51F1626}"/>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366E0304-FDCC-00BA-1883-A8704F355B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3F509C-8047-A8C5-757F-A9690D9D92F1}"/>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109056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EEF7-6A8F-CC62-F731-10F62E885D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7F1501-9B16-ED24-8DE7-73834FF1C2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6BAC2A-9D16-3DFE-B47E-3A628EE64298}"/>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7BCCAB7E-61CA-6171-F37C-0E170C8443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579614-7AC9-B41A-D412-A9107A26C19D}"/>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601924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E839-482B-B6C1-8358-E291FC0D80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34F3E9-5D1F-FB86-BB74-52CB8C3111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2C4E38-55C4-E283-4010-3CB65EDFFFF3}"/>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8B17F7DD-0692-9937-C92A-2A686D85F4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9D602-D708-3F55-FA76-C8D79AE9F96A}"/>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520284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6779-B4E6-C63A-CDC4-FA43ED878F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695E76-B784-BFC5-0403-CF9842B7C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F96662-ABE8-3E75-F019-3DD0A19C26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A0467E-A41B-F690-4336-A399F240F86E}"/>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6" name="Footer Placeholder 5">
            <a:extLst>
              <a:ext uri="{FF2B5EF4-FFF2-40B4-BE49-F238E27FC236}">
                <a16:creationId xmlns:a16="http://schemas.microsoft.com/office/drawing/2014/main" id="{2C397740-5FB6-C52A-11B0-B8F7A8ED48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A6443A-5109-EC58-78A3-AA05A0BAA738}"/>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941448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4984-24B4-E69D-9E4E-A37FF9D9C6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BF291C-E452-A1BB-C62E-6F73F1D45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DA7E02-5FB7-F8DF-1920-BB22DAE4B8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35F880-F39A-5C4B-B9D5-BFF24632DA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978E2-E487-77FC-88C2-426029AC5D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C574F7-8345-EEEF-FF77-52492AB0FFCF}"/>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8" name="Footer Placeholder 7">
            <a:extLst>
              <a:ext uri="{FF2B5EF4-FFF2-40B4-BE49-F238E27FC236}">
                <a16:creationId xmlns:a16="http://schemas.microsoft.com/office/drawing/2014/main" id="{911675D6-6642-3E49-6D16-7E7F9F6448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20E587-11A3-9FEA-D350-2ED2EDD1DB14}"/>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294178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194EF-FCC7-C4B4-48F7-FE15B38A08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650982-B4E3-9D66-F6A0-5E35C68C6308}"/>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4" name="Footer Placeholder 3">
            <a:extLst>
              <a:ext uri="{FF2B5EF4-FFF2-40B4-BE49-F238E27FC236}">
                <a16:creationId xmlns:a16="http://schemas.microsoft.com/office/drawing/2014/main" id="{AD34F17C-2ED3-3C64-4494-7248895834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07169B-D521-D4F4-6EA2-6982014C1779}"/>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3288968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D969B-D4B6-1DE8-189C-A66EB0DFBC1D}"/>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3" name="Footer Placeholder 2">
            <a:extLst>
              <a:ext uri="{FF2B5EF4-FFF2-40B4-BE49-F238E27FC236}">
                <a16:creationId xmlns:a16="http://schemas.microsoft.com/office/drawing/2014/main" id="{A6C593B4-482F-DAD6-2A80-CB006CAF38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6A6248-4929-0325-4344-4EEBDBAEB032}"/>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1147091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2DAD-B6B0-9BFC-5999-5A3823DC9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A2B70B-8186-0420-1927-D374686FC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36C26-957E-3B3F-2364-00C4CA6D5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F7B78F-E1C7-2509-C988-52361A7A80C1}"/>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6" name="Footer Placeholder 5">
            <a:extLst>
              <a:ext uri="{FF2B5EF4-FFF2-40B4-BE49-F238E27FC236}">
                <a16:creationId xmlns:a16="http://schemas.microsoft.com/office/drawing/2014/main" id="{8564E2B6-0626-7601-385D-33A60A0936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8C56BB-2A5C-50F0-DA46-95EBB5D0CB0E}"/>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200235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CA1BA-0A3A-D546-5275-DA4C944CA7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29EEBB-5230-2749-5012-C15D79219B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DF2D23-3525-9951-3C6B-B344CE156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72F3E-B19E-A953-9980-B3865D21C305}"/>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6" name="Footer Placeholder 5">
            <a:extLst>
              <a:ext uri="{FF2B5EF4-FFF2-40B4-BE49-F238E27FC236}">
                <a16:creationId xmlns:a16="http://schemas.microsoft.com/office/drawing/2014/main" id="{43418C0F-0BD0-C47C-C204-D4194DDCD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F5B3CF-4636-3453-2F8B-9265F6FEBE49}"/>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2721008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AE5D-0A5F-D97D-5160-AF74368592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090A91-5631-52E0-9A13-40E0CF0434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7453B9-12EF-7891-E853-197D815E9CCE}"/>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EE3C97A0-201A-960C-9308-212F66E21B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1C6302-2DE4-C7B5-1288-25203B136788}"/>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191391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B3DA24-B6BE-AAFF-3320-82322E0A75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19940F-5119-C11F-6428-9583AA3210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97A20C-299D-2DC9-5CFD-89243083CE59}"/>
              </a:ext>
            </a:extLst>
          </p:cNvPr>
          <p:cNvSpPr>
            <a:spLocks noGrp="1"/>
          </p:cNvSpPr>
          <p:nvPr>
            <p:ph type="dt" sz="half" idx="10"/>
          </p:nvPr>
        </p:nvSpPr>
        <p:spPr/>
        <p:txBody>
          <a:body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8BC2F45E-9FB2-BC92-E841-4385FCA707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E26AF-FB67-6DA9-1434-15AAF56DD677}"/>
              </a:ext>
            </a:extLst>
          </p:cNvPr>
          <p:cNvSpPr>
            <a:spLocks noGrp="1"/>
          </p:cNvSpPr>
          <p:nvPr>
            <p:ph type="sldNum" sz="quarter" idx="12"/>
          </p:nvPr>
        </p:nvSpPr>
        <p:spPr/>
        <p:txBody>
          <a:bodyPr/>
          <a:lstStyle/>
          <a:p>
            <a:fld id="{95C18804-BCBB-417A-B299-0ED7CA7C0294}" type="slidenum">
              <a:rPr lang="en-IN" smtClean="0"/>
              <a:t>‹#›</a:t>
            </a:fld>
            <a:endParaRPr lang="en-IN"/>
          </a:p>
        </p:txBody>
      </p:sp>
    </p:spTree>
    <p:extLst>
      <p:ext uri="{BB962C8B-B14F-4D97-AF65-F5344CB8AC3E}">
        <p14:creationId xmlns:p14="http://schemas.microsoft.com/office/powerpoint/2010/main" val="121483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DA53F7-9104-BD14-1A2E-909429224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A31CD5-E723-B20D-5775-198A76AC58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F9E151-0A61-EB9A-4B4B-361D1ADAF6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9E366A-2147-4AE3-B164-762784986435}" type="datetimeFigureOut">
              <a:rPr lang="en-IN" smtClean="0"/>
              <a:t>23-07-2026</a:t>
            </a:fld>
            <a:endParaRPr lang="en-IN"/>
          </a:p>
        </p:txBody>
      </p:sp>
      <p:sp>
        <p:nvSpPr>
          <p:cNvPr id="5" name="Footer Placeholder 4">
            <a:extLst>
              <a:ext uri="{FF2B5EF4-FFF2-40B4-BE49-F238E27FC236}">
                <a16:creationId xmlns:a16="http://schemas.microsoft.com/office/drawing/2014/main" id="{CB962EDD-F073-CFB2-FA2F-1B77ABE59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68AC1E4-F2BA-5127-6190-C68C237E19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8804-BCBB-417A-B299-0ED7CA7C0294}" type="slidenum">
              <a:rPr lang="en-IN" smtClean="0"/>
              <a:t>‹#›</a:t>
            </a:fld>
            <a:endParaRPr lang="en-IN"/>
          </a:p>
        </p:txBody>
      </p:sp>
    </p:spTree>
    <p:extLst>
      <p:ext uri="{BB962C8B-B14F-4D97-AF65-F5344CB8AC3E}">
        <p14:creationId xmlns:p14="http://schemas.microsoft.com/office/powerpoint/2010/main" val="4151920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221F3-0EFA-5CEF-AC92-5569523A3FBD}"/>
              </a:ext>
            </a:extLst>
          </p:cNvPr>
          <p:cNvSpPr>
            <a:spLocks noGrp="1"/>
          </p:cNvSpPr>
          <p:nvPr>
            <p:ph type="title"/>
          </p:nvPr>
        </p:nvSpPr>
        <p:spPr>
          <a:xfrm>
            <a:off x="838200" y="365125"/>
            <a:ext cx="10515600" cy="4029894"/>
          </a:xfrm>
        </p:spPr>
        <p:txBody>
          <a:bodyPr/>
          <a:lstStyle/>
          <a:p>
            <a:r>
              <a:rPr lang="en-IN" dirty="0" err="1"/>
              <a:t>Name:M.Pavan</a:t>
            </a:r>
            <a:r>
              <a:rPr lang="en-IN" dirty="0"/>
              <a:t> kumar      Reg:192312142</a:t>
            </a:r>
            <a:br>
              <a:rPr lang="en-IN" dirty="0"/>
            </a:br>
            <a:br>
              <a:rPr lang="en-IN" dirty="0"/>
            </a:br>
            <a:r>
              <a:rPr lang="en-IN" dirty="0"/>
              <a:t>ITA0607 –</a:t>
            </a:r>
            <a:r>
              <a:rPr lang="en-IN"/>
              <a:t>Machine Learning</a:t>
            </a:r>
            <a:endParaRPr lang="en-IN" dirty="0"/>
          </a:p>
        </p:txBody>
      </p:sp>
    </p:spTree>
    <p:extLst>
      <p:ext uri="{BB962C8B-B14F-4D97-AF65-F5344CB8AC3E}">
        <p14:creationId xmlns:p14="http://schemas.microsoft.com/office/powerpoint/2010/main" val="416579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47EA8-F956-D64C-7FA1-96CDBC52ABFC}"/>
              </a:ext>
            </a:extLst>
          </p:cNvPr>
          <p:cNvSpPr>
            <a:spLocks noGrp="1"/>
          </p:cNvSpPr>
          <p:nvPr>
            <p:ph type="ctrTitle"/>
          </p:nvPr>
        </p:nvSpPr>
        <p:spPr>
          <a:xfrm>
            <a:off x="1524000" y="738316"/>
            <a:ext cx="9144000" cy="1346866"/>
          </a:xfrm>
        </p:spPr>
        <p:txBody>
          <a:bodyPr>
            <a:normAutofit/>
          </a:bodyPr>
          <a:lstStyle/>
          <a:p>
            <a:r>
              <a:rPr lang="en-US" sz="2000" b="1" dirty="0">
                <a:latin typeface="Times New Roman" panose="02020603050405020304" pitchFamily="18" charset="0"/>
                <a:cs typeface="Times New Roman" panose="02020603050405020304" pitchFamily="18" charset="0"/>
              </a:rPr>
              <a:t>13. Explain the concept of ensemble learning and its importance in</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improving model performance. Discuss techniques such as bagging, boosting, and stacking. Highlight algorithms like Random Forest and AdaBoost, and </a:t>
            </a:r>
            <a:r>
              <a:rPr lang="en-US" sz="2000" b="1" dirty="0" err="1">
                <a:latin typeface="Times New Roman" panose="02020603050405020304" pitchFamily="18" charset="0"/>
                <a:cs typeface="Times New Roman" panose="02020603050405020304" pitchFamily="18" charset="0"/>
              </a:rPr>
              <a:t>explainhow</a:t>
            </a:r>
            <a:r>
              <a:rPr lang="en-US" sz="2000" b="1" dirty="0">
                <a:latin typeface="Times New Roman" panose="02020603050405020304" pitchFamily="18" charset="0"/>
                <a:cs typeface="Times New Roman" panose="02020603050405020304" pitchFamily="18" charset="0"/>
              </a:rPr>
              <a:t> combining multiple models reduces variance and bias.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932489A-D14A-8B3E-5D82-EC98DAF69A71}"/>
              </a:ext>
            </a:extLst>
          </p:cNvPr>
          <p:cNvSpPr>
            <a:spLocks noGrp="1"/>
          </p:cNvSpPr>
          <p:nvPr>
            <p:ph type="subTitle" idx="1"/>
          </p:nvPr>
        </p:nvSpPr>
        <p:spPr>
          <a:xfrm>
            <a:off x="1524000" y="2085181"/>
            <a:ext cx="9144000" cy="4492599"/>
          </a:xfrm>
        </p:spPr>
        <p:txBody>
          <a:bodyPr>
            <a:noAutofit/>
          </a:bodyPr>
          <a:lstStyle/>
          <a:p>
            <a:pPr algn="l"/>
            <a:r>
              <a:rPr lang="en-IN" sz="2000" b="1" dirty="0">
                <a:latin typeface="Times New Roman" panose="02020603050405020304" pitchFamily="18" charset="0"/>
                <a:cs typeface="Times New Roman" panose="02020603050405020304" pitchFamily="18" charset="0"/>
              </a:rPr>
              <a:t>Importance</a:t>
            </a:r>
          </a:p>
          <a:p>
            <a:pPr algn="l"/>
            <a:r>
              <a:rPr lang="en-IN" sz="2000" dirty="0">
                <a:latin typeface="Times New Roman" panose="02020603050405020304" pitchFamily="18" charset="0"/>
                <a:cs typeface="Times New Roman" panose="02020603050405020304" pitchFamily="18" charset="0"/>
              </a:rPr>
              <a:t>Improves prediction accuracy. </a:t>
            </a:r>
          </a:p>
          <a:p>
            <a:pPr algn="l"/>
            <a:r>
              <a:rPr lang="en-IN" sz="2000" dirty="0">
                <a:latin typeface="Times New Roman" panose="02020603050405020304" pitchFamily="18" charset="0"/>
                <a:cs typeface="Times New Roman" panose="02020603050405020304" pitchFamily="18" charset="0"/>
              </a:rPr>
              <a:t>Reduces overfitting. </a:t>
            </a:r>
          </a:p>
          <a:p>
            <a:pPr algn="l"/>
            <a:r>
              <a:rPr lang="en-IN" sz="2000" dirty="0">
                <a:latin typeface="Times New Roman" panose="02020603050405020304" pitchFamily="18" charset="0"/>
                <a:cs typeface="Times New Roman" panose="02020603050405020304" pitchFamily="18" charset="0"/>
              </a:rPr>
              <a:t>Increases model stability and robustness. </a:t>
            </a:r>
          </a:p>
          <a:p>
            <a:pPr algn="l"/>
            <a:r>
              <a:rPr lang="en-IN" sz="2000" dirty="0">
                <a:latin typeface="Times New Roman" panose="02020603050405020304" pitchFamily="18" charset="0"/>
                <a:cs typeface="Times New Roman" panose="02020603050405020304" pitchFamily="18" charset="0"/>
              </a:rPr>
              <a:t>Minimizes variance and bias. </a:t>
            </a:r>
          </a:p>
          <a:p>
            <a:pPr algn="l"/>
            <a:r>
              <a:rPr lang="en-IN" sz="2000" b="1" dirty="0">
                <a:latin typeface="Times New Roman" panose="02020603050405020304" pitchFamily="18" charset="0"/>
                <a:cs typeface="Times New Roman" panose="02020603050405020304" pitchFamily="18" charset="0"/>
              </a:rPr>
              <a:t>Techniques</a:t>
            </a:r>
          </a:p>
          <a:p>
            <a:pPr algn="l"/>
            <a:r>
              <a:rPr lang="en-IN" sz="2000" b="1" dirty="0">
                <a:latin typeface="Times New Roman" panose="02020603050405020304" pitchFamily="18" charset="0"/>
                <a:cs typeface="Times New Roman" panose="02020603050405020304" pitchFamily="18" charset="0"/>
              </a:rPr>
              <a:t>1. Bagging (Bootstrap Aggregating)</a:t>
            </a:r>
            <a:endParaRPr lang="en-IN" sz="200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Trains multiple models independently using different random subsets of data. </a:t>
            </a:r>
          </a:p>
          <a:p>
            <a:pPr algn="l"/>
            <a:r>
              <a:rPr lang="en-IN" sz="2000" dirty="0">
                <a:latin typeface="Times New Roman" panose="02020603050405020304" pitchFamily="18" charset="0"/>
                <a:cs typeface="Times New Roman" panose="02020603050405020304" pitchFamily="18" charset="0"/>
              </a:rPr>
              <a:t>Final prediction is obtained by averaging (regression) or majority voting (classification). </a:t>
            </a:r>
          </a:p>
          <a:p>
            <a:pPr algn="l"/>
            <a:r>
              <a:rPr lang="en-IN" sz="2000" b="1" dirty="0">
                <a:latin typeface="Times New Roman" panose="02020603050405020304" pitchFamily="18" charset="0"/>
                <a:cs typeface="Times New Roman" panose="02020603050405020304" pitchFamily="18" charset="0"/>
              </a:rPr>
              <a:t>Example:</a:t>
            </a:r>
            <a:r>
              <a:rPr lang="en-IN" sz="2000" dirty="0">
                <a:latin typeface="Times New Roman" panose="02020603050405020304" pitchFamily="18" charset="0"/>
                <a:cs typeface="Times New Roman" panose="02020603050405020304" pitchFamily="18" charset="0"/>
              </a:rPr>
              <a:t> Random Forest.</a:t>
            </a:r>
          </a:p>
        </p:txBody>
      </p:sp>
    </p:spTree>
    <p:extLst>
      <p:ext uri="{BB962C8B-B14F-4D97-AF65-F5344CB8AC3E}">
        <p14:creationId xmlns:p14="http://schemas.microsoft.com/office/powerpoint/2010/main" val="575801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DA1817-9110-1F1D-A234-575BDD8C23D4}"/>
              </a:ext>
            </a:extLst>
          </p:cNvPr>
          <p:cNvSpPr txBox="1"/>
          <p:nvPr/>
        </p:nvSpPr>
        <p:spPr>
          <a:xfrm>
            <a:off x="875071" y="738882"/>
            <a:ext cx="10053484" cy="5909310"/>
          </a:xfrm>
          <a:prstGeom prst="rect">
            <a:avLst/>
          </a:prstGeom>
          <a:noFill/>
        </p:spPr>
        <p:txBody>
          <a:bodyPr wrap="square">
            <a:spAutoFit/>
          </a:bodyPr>
          <a:lstStyle/>
          <a:p>
            <a:pPr>
              <a:buNone/>
            </a:pPr>
            <a:r>
              <a:rPr lang="en-IN" b="1" dirty="0"/>
              <a:t>2. Boosting</a:t>
            </a:r>
            <a:endParaRPr lang="en-IN" dirty="0"/>
          </a:p>
          <a:p>
            <a:pPr>
              <a:buFont typeface="Arial" panose="020B0604020202020204" pitchFamily="34" charset="0"/>
              <a:buChar char="•"/>
            </a:pPr>
            <a:r>
              <a:rPr lang="en-IN" dirty="0"/>
              <a:t>Trains models sequentially. </a:t>
            </a:r>
          </a:p>
          <a:p>
            <a:pPr>
              <a:buFont typeface="Arial" panose="020B0604020202020204" pitchFamily="34" charset="0"/>
              <a:buChar char="•"/>
            </a:pPr>
            <a:r>
              <a:rPr lang="en-IN" dirty="0"/>
              <a:t>Each new model focuses on correcting errors made by previous models. </a:t>
            </a:r>
          </a:p>
          <a:p>
            <a:pPr>
              <a:buFont typeface="Arial" panose="020B0604020202020204" pitchFamily="34" charset="0"/>
              <a:buChar char="•"/>
            </a:pPr>
            <a:r>
              <a:rPr lang="en-IN" dirty="0"/>
              <a:t>Produces a strong learner from several weak learners. </a:t>
            </a:r>
          </a:p>
          <a:p>
            <a:pPr>
              <a:buFont typeface="Arial" panose="020B0604020202020204" pitchFamily="34" charset="0"/>
              <a:buChar char="•"/>
            </a:pPr>
            <a:r>
              <a:rPr lang="en-IN" b="1" dirty="0"/>
              <a:t>Example:</a:t>
            </a:r>
            <a:r>
              <a:rPr lang="en-IN" dirty="0"/>
              <a:t> AdaBoost. </a:t>
            </a:r>
          </a:p>
          <a:p>
            <a:pPr>
              <a:buNone/>
            </a:pPr>
            <a:r>
              <a:rPr lang="en-IN" b="1" dirty="0"/>
              <a:t>3. Stacking</a:t>
            </a:r>
            <a:endParaRPr lang="en-IN" dirty="0"/>
          </a:p>
          <a:p>
            <a:pPr>
              <a:buFont typeface="Arial" panose="020B0604020202020204" pitchFamily="34" charset="0"/>
              <a:buChar char="•"/>
            </a:pPr>
            <a:r>
              <a:rPr lang="en-IN" dirty="0"/>
              <a:t>Combines predictions of multiple different algorithms. </a:t>
            </a:r>
          </a:p>
          <a:p>
            <a:pPr>
              <a:buFont typeface="Arial" panose="020B0604020202020204" pitchFamily="34" charset="0"/>
              <a:buChar char="•"/>
            </a:pPr>
            <a:r>
              <a:rPr lang="en-IN" dirty="0"/>
              <a:t>A meta-model learns from the outputs of base models to make the final prediction. </a:t>
            </a:r>
          </a:p>
          <a:p>
            <a:pPr>
              <a:buNone/>
            </a:pPr>
            <a:r>
              <a:rPr lang="en-IN" b="1" dirty="0"/>
              <a:t>Algorithms</a:t>
            </a:r>
          </a:p>
          <a:p>
            <a:pPr>
              <a:buNone/>
            </a:pPr>
            <a:r>
              <a:rPr lang="en-IN" b="1" dirty="0"/>
              <a:t>Random Forest</a:t>
            </a:r>
            <a:endParaRPr lang="en-IN" dirty="0"/>
          </a:p>
          <a:p>
            <a:pPr>
              <a:buFont typeface="Arial" panose="020B0604020202020204" pitchFamily="34" charset="0"/>
              <a:buChar char="•"/>
            </a:pPr>
            <a:r>
              <a:rPr lang="en-IN" dirty="0"/>
              <a:t>An ensemble of decision trees using bagging. </a:t>
            </a:r>
          </a:p>
          <a:p>
            <a:pPr>
              <a:buFont typeface="Arial" panose="020B0604020202020204" pitchFamily="34" charset="0"/>
              <a:buChar char="•"/>
            </a:pPr>
            <a:r>
              <a:rPr lang="en-IN" dirty="0"/>
              <a:t>Reduces variance and improves accuracy. </a:t>
            </a:r>
          </a:p>
          <a:p>
            <a:pPr>
              <a:buFont typeface="Arial" panose="020B0604020202020204" pitchFamily="34" charset="0"/>
              <a:buChar char="•"/>
            </a:pPr>
            <a:r>
              <a:rPr lang="en-IN" dirty="0"/>
              <a:t>Handles large datasets and avoids overfitting. </a:t>
            </a:r>
          </a:p>
          <a:p>
            <a:pPr>
              <a:buNone/>
            </a:pPr>
            <a:r>
              <a:rPr lang="en-IN" b="1" dirty="0"/>
              <a:t>AdaBoost</a:t>
            </a:r>
            <a:endParaRPr lang="en-IN" dirty="0"/>
          </a:p>
          <a:p>
            <a:pPr>
              <a:buFont typeface="Arial" panose="020B0604020202020204" pitchFamily="34" charset="0"/>
              <a:buChar char="•"/>
            </a:pPr>
            <a:r>
              <a:rPr lang="en-IN" dirty="0"/>
              <a:t>Sequentially builds weak learners (usually decision stumps). </a:t>
            </a:r>
          </a:p>
          <a:p>
            <a:pPr>
              <a:buFont typeface="Arial" panose="020B0604020202020204" pitchFamily="34" charset="0"/>
              <a:buChar char="•"/>
            </a:pPr>
            <a:r>
              <a:rPr lang="en-IN" dirty="0"/>
              <a:t>Assigns higher weights to misclassified samples. </a:t>
            </a:r>
          </a:p>
          <a:p>
            <a:pPr>
              <a:buFont typeface="Arial" panose="020B0604020202020204" pitchFamily="34" charset="0"/>
              <a:buChar char="•"/>
            </a:pPr>
            <a:r>
              <a:rPr lang="en-IN" dirty="0"/>
              <a:t>Reduces bias and improves predictive performance. </a:t>
            </a:r>
          </a:p>
          <a:p>
            <a:pPr>
              <a:buNone/>
            </a:pPr>
            <a:r>
              <a:rPr lang="en-IN" b="1" dirty="0"/>
              <a:t>How Ensemble Learning Reduces Variance and Bias</a:t>
            </a:r>
          </a:p>
          <a:p>
            <a:pPr>
              <a:buFont typeface="Arial" panose="020B0604020202020204" pitchFamily="34" charset="0"/>
              <a:buChar char="•"/>
            </a:pPr>
            <a:r>
              <a:rPr lang="en-IN" b="1" dirty="0"/>
              <a:t>Bagging</a:t>
            </a:r>
            <a:r>
              <a:rPr lang="en-IN" dirty="0"/>
              <a:t> reduces </a:t>
            </a:r>
            <a:r>
              <a:rPr lang="en-IN" b="1" dirty="0"/>
              <a:t>variance</a:t>
            </a:r>
            <a:r>
              <a:rPr lang="en-IN" dirty="0"/>
              <a:t> by averaging predictions from multiple models. </a:t>
            </a:r>
          </a:p>
          <a:p>
            <a:pPr>
              <a:buFont typeface="Arial" panose="020B0604020202020204" pitchFamily="34" charset="0"/>
              <a:buChar char="•"/>
            </a:pPr>
            <a:r>
              <a:rPr lang="en-IN" b="1" dirty="0"/>
              <a:t>Boosting</a:t>
            </a:r>
            <a:r>
              <a:rPr lang="en-IN" dirty="0"/>
              <a:t> reduces </a:t>
            </a:r>
            <a:r>
              <a:rPr lang="en-IN" b="1" dirty="0"/>
              <a:t>bias</a:t>
            </a:r>
            <a:r>
              <a:rPr lang="en-IN" dirty="0"/>
              <a:t> by correcting previous errors. </a:t>
            </a:r>
          </a:p>
          <a:p>
            <a:pPr>
              <a:buFont typeface="Arial" panose="020B0604020202020204" pitchFamily="34" charset="0"/>
              <a:buChar char="•"/>
            </a:pPr>
            <a:r>
              <a:rPr lang="en-IN" b="1" dirty="0"/>
              <a:t>Stacking</a:t>
            </a:r>
            <a:r>
              <a:rPr lang="en-IN" dirty="0"/>
              <a:t> combines strengths of different algorithms for better generalization.</a:t>
            </a:r>
          </a:p>
        </p:txBody>
      </p:sp>
    </p:spTree>
    <p:extLst>
      <p:ext uri="{BB962C8B-B14F-4D97-AF65-F5344CB8AC3E}">
        <p14:creationId xmlns:p14="http://schemas.microsoft.com/office/powerpoint/2010/main" val="1096882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E0DA1F-11F8-4F43-37C5-81907BBCABA5}"/>
              </a:ext>
            </a:extLst>
          </p:cNvPr>
          <p:cNvSpPr txBox="1"/>
          <p:nvPr/>
        </p:nvSpPr>
        <p:spPr>
          <a:xfrm>
            <a:off x="943896" y="674638"/>
            <a:ext cx="10648335" cy="120032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14. Describe the importance of feature selection in machine learning. Explain</a:t>
            </a:r>
          </a:p>
          <a:p>
            <a:r>
              <a:rPr lang="en-IN" b="1" dirty="0">
                <a:latin typeface="Times New Roman" panose="02020603050405020304" pitchFamily="18" charset="0"/>
                <a:cs typeface="Times New Roman" panose="02020603050405020304" pitchFamily="18" charset="0"/>
              </a:rPr>
              <a:t>different techniques such as filter methods, wrapper methods, and embedded</a:t>
            </a:r>
          </a:p>
          <a:p>
            <a:r>
              <a:rPr lang="en-IN" b="1" dirty="0">
                <a:latin typeface="Times New Roman" panose="02020603050405020304" pitchFamily="18" charset="0"/>
                <a:cs typeface="Times New Roman" panose="02020603050405020304" pitchFamily="18" charset="0"/>
              </a:rPr>
              <a:t>methods. Also, discuss dimensionality reduction techniques like Principal Component</a:t>
            </a:r>
          </a:p>
          <a:p>
            <a:r>
              <a:rPr lang="en-IN" b="1" dirty="0">
                <a:latin typeface="Times New Roman" panose="02020603050405020304" pitchFamily="18" charset="0"/>
                <a:cs typeface="Times New Roman" panose="02020603050405020304" pitchFamily="18" charset="0"/>
              </a:rPr>
              <a:t>Analysis (PCA) and their role in improving model efficiency and performance.</a:t>
            </a:r>
          </a:p>
        </p:txBody>
      </p:sp>
      <p:sp>
        <p:nvSpPr>
          <p:cNvPr id="5" name="TextBox 4">
            <a:extLst>
              <a:ext uri="{FF2B5EF4-FFF2-40B4-BE49-F238E27FC236}">
                <a16:creationId xmlns:a16="http://schemas.microsoft.com/office/drawing/2014/main" id="{8B52C141-B910-3C4E-78A7-1B795329EF3E}"/>
              </a:ext>
            </a:extLst>
          </p:cNvPr>
          <p:cNvSpPr txBox="1"/>
          <p:nvPr/>
        </p:nvSpPr>
        <p:spPr>
          <a:xfrm>
            <a:off x="707921" y="1874967"/>
            <a:ext cx="11120284" cy="4524315"/>
          </a:xfrm>
          <a:prstGeom prst="rect">
            <a:avLst/>
          </a:prstGeom>
          <a:noFill/>
        </p:spPr>
        <p:txBody>
          <a:bodyPr wrap="square">
            <a:spAutoFit/>
          </a:bodyPr>
          <a:lstStyle/>
          <a:p>
            <a:pPr>
              <a:buNone/>
            </a:pPr>
            <a:r>
              <a:rPr lang="en-IN" b="1" dirty="0"/>
              <a:t>Importance</a:t>
            </a:r>
          </a:p>
          <a:p>
            <a:pPr>
              <a:buFont typeface="Arial" panose="020B0604020202020204" pitchFamily="34" charset="0"/>
              <a:buChar char="•"/>
            </a:pPr>
            <a:r>
              <a:rPr lang="en-IN" dirty="0"/>
              <a:t>Improves model accuracy. </a:t>
            </a:r>
          </a:p>
          <a:p>
            <a:pPr>
              <a:buFont typeface="Arial" panose="020B0604020202020204" pitchFamily="34" charset="0"/>
              <a:buChar char="•"/>
            </a:pPr>
            <a:r>
              <a:rPr lang="en-IN" dirty="0"/>
              <a:t>Reduces training time. </a:t>
            </a:r>
          </a:p>
          <a:p>
            <a:pPr>
              <a:buFont typeface="Arial" panose="020B0604020202020204" pitchFamily="34" charset="0"/>
              <a:buChar char="•"/>
            </a:pPr>
            <a:r>
              <a:rPr lang="en-IN" dirty="0"/>
              <a:t>Prevents overfitting. </a:t>
            </a:r>
          </a:p>
          <a:p>
            <a:pPr>
              <a:buFont typeface="Arial" panose="020B0604020202020204" pitchFamily="34" charset="0"/>
              <a:buChar char="•"/>
            </a:pPr>
            <a:r>
              <a:rPr lang="en-IN" dirty="0"/>
              <a:t>Enhances interpretability. </a:t>
            </a:r>
          </a:p>
          <a:p>
            <a:pPr>
              <a:buFont typeface="Arial" panose="020B0604020202020204" pitchFamily="34" charset="0"/>
              <a:buChar char="•"/>
            </a:pPr>
            <a:r>
              <a:rPr lang="en-IN" dirty="0"/>
              <a:t>Eliminates irrelevant and redundant features. </a:t>
            </a:r>
          </a:p>
          <a:p>
            <a:pPr>
              <a:buNone/>
            </a:pPr>
            <a:r>
              <a:rPr lang="en-IN" b="1" dirty="0"/>
              <a:t>Feature Selection Techniques</a:t>
            </a:r>
          </a:p>
          <a:p>
            <a:pPr>
              <a:buNone/>
            </a:pPr>
            <a:r>
              <a:rPr lang="en-IN" b="1" dirty="0"/>
              <a:t>1. Filter Methods</a:t>
            </a:r>
            <a:endParaRPr lang="en-IN" dirty="0"/>
          </a:p>
          <a:p>
            <a:pPr>
              <a:buFont typeface="Arial" panose="020B0604020202020204" pitchFamily="34" charset="0"/>
              <a:buChar char="•"/>
            </a:pPr>
            <a:r>
              <a:rPr lang="en-IN" dirty="0"/>
              <a:t>Select features using statistical measures. </a:t>
            </a:r>
          </a:p>
          <a:p>
            <a:pPr>
              <a:buFont typeface="Arial" panose="020B0604020202020204" pitchFamily="34" charset="0"/>
              <a:buChar char="•"/>
            </a:pPr>
            <a:r>
              <a:rPr lang="en-IN" dirty="0"/>
              <a:t>Independent of the learning algorithm. </a:t>
            </a:r>
          </a:p>
          <a:p>
            <a:pPr>
              <a:buFont typeface="Arial" panose="020B0604020202020204" pitchFamily="34" charset="0"/>
              <a:buChar char="•"/>
            </a:pPr>
            <a:r>
              <a:rPr lang="en-IN" dirty="0"/>
              <a:t>Examples: </a:t>
            </a:r>
          </a:p>
          <a:p>
            <a:pPr marL="742950" lvl="1" indent="-285750">
              <a:buFont typeface="Arial" panose="020B0604020202020204" pitchFamily="34" charset="0"/>
              <a:buChar char="•"/>
            </a:pPr>
            <a:r>
              <a:rPr lang="en-IN" dirty="0"/>
              <a:t>Correlation </a:t>
            </a:r>
          </a:p>
          <a:p>
            <a:pPr marL="742950" lvl="1" indent="-285750">
              <a:buFont typeface="Arial" panose="020B0604020202020204" pitchFamily="34" charset="0"/>
              <a:buChar char="•"/>
            </a:pPr>
            <a:r>
              <a:rPr lang="en-IN" dirty="0"/>
              <a:t>Chi-Square Test </a:t>
            </a:r>
          </a:p>
          <a:p>
            <a:pPr marL="742950" lvl="1" indent="-285750">
              <a:buFont typeface="Arial" panose="020B0604020202020204" pitchFamily="34" charset="0"/>
              <a:buChar char="•"/>
            </a:pPr>
            <a:r>
              <a:rPr lang="en-IN" dirty="0"/>
              <a:t>Information Gain </a:t>
            </a:r>
          </a:p>
          <a:p>
            <a:pPr marL="742950" lvl="1" indent="-285750">
              <a:buFont typeface="Arial" panose="020B0604020202020204" pitchFamily="34" charset="0"/>
              <a:buChar char="•"/>
            </a:pPr>
            <a:r>
              <a:rPr lang="en-IN" dirty="0"/>
              <a:t>ANOVA </a:t>
            </a:r>
          </a:p>
          <a:p>
            <a:pPr>
              <a:buNone/>
            </a:pPr>
            <a:endParaRPr lang="en-IN" dirty="0"/>
          </a:p>
        </p:txBody>
      </p:sp>
    </p:spTree>
    <p:extLst>
      <p:ext uri="{BB962C8B-B14F-4D97-AF65-F5344CB8AC3E}">
        <p14:creationId xmlns:p14="http://schemas.microsoft.com/office/powerpoint/2010/main" val="1599885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B0B5C3-4EC6-C17D-AB4D-4D72847B792B}"/>
              </a:ext>
            </a:extLst>
          </p:cNvPr>
          <p:cNvSpPr txBox="1"/>
          <p:nvPr/>
        </p:nvSpPr>
        <p:spPr>
          <a:xfrm>
            <a:off x="501445" y="117693"/>
            <a:ext cx="11189110" cy="6740307"/>
          </a:xfrm>
          <a:prstGeom prst="rect">
            <a:avLst/>
          </a:prstGeom>
          <a:noFill/>
        </p:spPr>
        <p:txBody>
          <a:bodyPr wrap="square">
            <a:spAutoFit/>
          </a:bodyPr>
          <a:lstStyle/>
          <a:p>
            <a:pPr>
              <a:buNone/>
            </a:pPr>
            <a:r>
              <a:rPr lang="en-IN" b="1" dirty="0"/>
              <a:t>2. Wrapper Methods</a:t>
            </a:r>
            <a:endParaRPr lang="en-IN" dirty="0"/>
          </a:p>
          <a:p>
            <a:pPr>
              <a:buFont typeface="Arial" panose="020B0604020202020204" pitchFamily="34" charset="0"/>
              <a:buChar char="•"/>
            </a:pPr>
            <a:r>
              <a:rPr lang="en-IN" dirty="0"/>
              <a:t>Evaluate subsets of features using a machine learning model. </a:t>
            </a:r>
          </a:p>
          <a:p>
            <a:pPr>
              <a:buFont typeface="Arial" panose="020B0604020202020204" pitchFamily="34" charset="0"/>
              <a:buChar char="•"/>
            </a:pPr>
            <a:r>
              <a:rPr lang="en-IN" dirty="0"/>
              <a:t>More accurate but computationally expensive. </a:t>
            </a:r>
          </a:p>
          <a:p>
            <a:pPr>
              <a:buFont typeface="Arial" panose="020B0604020202020204" pitchFamily="34" charset="0"/>
              <a:buChar char="•"/>
            </a:pPr>
            <a:r>
              <a:rPr lang="en-IN" dirty="0"/>
              <a:t>Examples: </a:t>
            </a:r>
          </a:p>
          <a:p>
            <a:pPr marL="742950" lvl="1" indent="-285750">
              <a:buFont typeface="Arial" panose="020B0604020202020204" pitchFamily="34" charset="0"/>
              <a:buChar char="•"/>
            </a:pPr>
            <a:r>
              <a:rPr lang="en-IN" dirty="0"/>
              <a:t>Forward Selection </a:t>
            </a:r>
          </a:p>
          <a:p>
            <a:pPr marL="742950" lvl="1" indent="-285750">
              <a:buFont typeface="Arial" panose="020B0604020202020204" pitchFamily="34" charset="0"/>
              <a:buChar char="•"/>
            </a:pPr>
            <a:r>
              <a:rPr lang="en-IN" dirty="0"/>
              <a:t>Backward Elimination </a:t>
            </a:r>
          </a:p>
          <a:p>
            <a:pPr marL="742950" lvl="1" indent="-285750">
              <a:buFont typeface="Arial" panose="020B0604020202020204" pitchFamily="34" charset="0"/>
              <a:buChar char="•"/>
            </a:pPr>
            <a:r>
              <a:rPr lang="en-IN" dirty="0"/>
              <a:t>Recursive Feature Elimination (RFE) </a:t>
            </a:r>
          </a:p>
          <a:p>
            <a:pPr>
              <a:buNone/>
            </a:pPr>
            <a:r>
              <a:rPr lang="en-IN" b="1" dirty="0"/>
              <a:t>3. Embedded Methods</a:t>
            </a:r>
            <a:endParaRPr lang="en-IN" dirty="0"/>
          </a:p>
          <a:p>
            <a:pPr>
              <a:buFont typeface="Arial" panose="020B0604020202020204" pitchFamily="34" charset="0"/>
              <a:buChar char="•"/>
            </a:pPr>
            <a:r>
              <a:rPr lang="en-IN" dirty="0"/>
              <a:t>Perform feature selection during model training. </a:t>
            </a:r>
          </a:p>
          <a:p>
            <a:pPr>
              <a:buFont typeface="Arial" panose="020B0604020202020204" pitchFamily="34" charset="0"/>
              <a:buChar char="•"/>
            </a:pPr>
            <a:r>
              <a:rPr lang="en-IN" dirty="0"/>
              <a:t>Faster than wrapper methods. </a:t>
            </a:r>
          </a:p>
          <a:p>
            <a:pPr>
              <a:buFont typeface="Arial" panose="020B0604020202020204" pitchFamily="34" charset="0"/>
              <a:buChar char="•"/>
            </a:pPr>
            <a:r>
              <a:rPr lang="en-IN" dirty="0"/>
              <a:t>Examples: </a:t>
            </a:r>
          </a:p>
          <a:p>
            <a:pPr marL="742950" lvl="1" indent="-285750">
              <a:buFont typeface="Arial" panose="020B0604020202020204" pitchFamily="34" charset="0"/>
              <a:buChar char="•"/>
            </a:pPr>
            <a:r>
              <a:rPr lang="en-IN" dirty="0"/>
              <a:t>LASSO Regression </a:t>
            </a:r>
          </a:p>
          <a:p>
            <a:pPr marL="742950" lvl="1" indent="-285750">
              <a:buFont typeface="Arial" panose="020B0604020202020204" pitchFamily="34" charset="0"/>
              <a:buChar char="•"/>
            </a:pPr>
            <a:r>
              <a:rPr lang="en-IN" dirty="0"/>
              <a:t>Decision Trees </a:t>
            </a:r>
          </a:p>
          <a:p>
            <a:pPr marL="742950" lvl="1" indent="-285750">
              <a:buFont typeface="Arial" panose="020B0604020202020204" pitchFamily="34" charset="0"/>
              <a:buChar char="•"/>
            </a:pPr>
            <a:r>
              <a:rPr lang="en-IN" dirty="0"/>
              <a:t>Random Forest Feature Importance </a:t>
            </a:r>
          </a:p>
          <a:p>
            <a:pPr>
              <a:buNone/>
            </a:pPr>
            <a:r>
              <a:rPr lang="en-IN" b="1" dirty="0"/>
              <a:t>Dimensionality Reduction</a:t>
            </a:r>
          </a:p>
          <a:p>
            <a:pPr>
              <a:buNone/>
            </a:pPr>
            <a:r>
              <a:rPr lang="en-IN" b="1" dirty="0"/>
              <a:t>Principal Component Analysis (PCA)</a:t>
            </a:r>
            <a:endParaRPr lang="en-IN" dirty="0"/>
          </a:p>
          <a:p>
            <a:pPr>
              <a:buFont typeface="Arial" panose="020B0604020202020204" pitchFamily="34" charset="0"/>
              <a:buChar char="•"/>
            </a:pPr>
            <a:r>
              <a:rPr lang="en-IN" dirty="0"/>
              <a:t>Converts correlated features into a smaller number of uncorrelated principal components. </a:t>
            </a:r>
          </a:p>
          <a:p>
            <a:pPr>
              <a:buFont typeface="Arial" panose="020B0604020202020204" pitchFamily="34" charset="0"/>
              <a:buChar char="•"/>
            </a:pPr>
            <a:r>
              <a:rPr lang="en-IN" dirty="0"/>
              <a:t>Retains most of the data variance while reducing dimensions. </a:t>
            </a:r>
          </a:p>
          <a:p>
            <a:pPr>
              <a:buNone/>
            </a:pPr>
            <a:r>
              <a:rPr lang="en-IN" b="1" dirty="0"/>
              <a:t>Role of PCA</a:t>
            </a:r>
          </a:p>
          <a:p>
            <a:pPr>
              <a:buFont typeface="Arial" panose="020B0604020202020204" pitchFamily="34" charset="0"/>
              <a:buChar char="•"/>
            </a:pPr>
            <a:r>
              <a:rPr lang="en-IN" dirty="0"/>
              <a:t>Reduces computational cost. </a:t>
            </a:r>
          </a:p>
          <a:p>
            <a:pPr>
              <a:buFont typeface="Arial" panose="020B0604020202020204" pitchFamily="34" charset="0"/>
              <a:buChar char="•"/>
            </a:pPr>
            <a:r>
              <a:rPr lang="en-IN" dirty="0"/>
              <a:t>Removes redundant information. </a:t>
            </a:r>
          </a:p>
          <a:p>
            <a:pPr>
              <a:buFont typeface="Arial" panose="020B0604020202020204" pitchFamily="34" charset="0"/>
              <a:buChar char="•"/>
            </a:pPr>
            <a:r>
              <a:rPr lang="en-IN" dirty="0"/>
              <a:t>Improves visualization of high-dimensional data. </a:t>
            </a:r>
          </a:p>
          <a:p>
            <a:pPr>
              <a:buFont typeface="Arial" panose="020B0604020202020204" pitchFamily="34" charset="0"/>
              <a:buChar char="•"/>
            </a:pPr>
            <a:r>
              <a:rPr lang="en-IN" dirty="0"/>
              <a:t>Helps reduce overfitting. </a:t>
            </a:r>
          </a:p>
          <a:p>
            <a:pPr>
              <a:buFont typeface="Arial" panose="020B0604020202020204" pitchFamily="34" charset="0"/>
              <a:buChar char="•"/>
            </a:pPr>
            <a:r>
              <a:rPr lang="en-IN" dirty="0"/>
              <a:t>Improves model efficiency and performance.</a:t>
            </a:r>
          </a:p>
        </p:txBody>
      </p:sp>
    </p:spTree>
    <p:extLst>
      <p:ext uri="{BB962C8B-B14F-4D97-AF65-F5344CB8AC3E}">
        <p14:creationId xmlns:p14="http://schemas.microsoft.com/office/powerpoint/2010/main" val="3074338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D6A5E6-E992-EA5F-B285-8145532BEC6C}"/>
              </a:ext>
            </a:extLst>
          </p:cNvPr>
          <p:cNvSpPr txBox="1"/>
          <p:nvPr/>
        </p:nvSpPr>
        <p:spPr>
          <a:xfrm>
            <a:off x="609600" y="213370"/>
            <a:ext cx="10736825" cy="923330"/>
          </a:xfrm>
          <a:prstGeom prst="rect">
            <a:avLst/>
          </a:prstGeom>
          <a:noFill/>
        </p:spPr>
        <p:txBody>
          <a:bodyPr wrap="square">
            <a:spAutoFit/>
          </a:bodyPr>
          <a:lstStyle/>
          <a:p>
            <a:r>
              <a:rPr lang="en-IN" b="1" dirty="0"/>
              <a:t>15. Explain various model evaluation techniques such as train-test split, cross-validation, and bootstrapping. Discuss performance metrics for classification and regression problems. Highlight the importance of proper validation in avoiding overfitting and ensuring model generalization.</a:t>
            </a:r>
          </a:p>
        </p:txBody>
      </p:sp>
      <p:sp>
        <p:nvSpPr>
          <p:cNvPr id="5" name="TextBox 4">
            <a:extLst>
              <a:ext uri="{FF2B5EF4-FFF2-40B4-BE49-F238E27FC236}">
                <a16:creationId xmlns:a16="http://schemas.microsoft.com/office/drawing/2014/main" id="{3048717F-822D-A0AF-84B6-C919FB28D0EC}"/>
              </a:ext>
            </a:extLst>
          </p:cNvPr>
          <p:cNvSpPr txBox="1"/>
          <p:nvPr/>
        </p:nvSpPr>
        <p:spPr>
          <a:xfrm>
            <a:off x="452283" y="1169301"/>
            <a:ext cx="11474245" cy="5909310"/>
          </a:xfrm>
          <a:prstGeom prst="rect">
            <a:avLst/>
          </a:prstGeom>
          <a:noFill/>
        </p:spPr>
        <p:txBody>
          <a:bodyPr wrap="square">
            <a:spAutoFit/>
          </a:bodyPr>
          <a:lstStyle/>
          <a:p>
            <a:pPr>
              <a:buNone/>
            </a:pPr>
            <a:r>
              <a:rPr lang="en-IN" b="1" dirty="0"/>
              <a:t>Evaluation Techniques</a:t>
            </a:r>
          </a:p>
          <a:p>
            <a:pPr>
              <a:buNone/>
            </a:pPr>
            <a:r>
              <a:rPr lang="en-IN" b="1" dirty="0"/>
              <a:t>1. Train-Test Split</a:t>
            </a:r>
            <a:endParaRPr lang="en-IN" dirty="0"/>
          </a:p>
          <a:p>
            <a:pPr>
              <a:buFont typeface="Arial" panose="020B0604020202020204" pitchFamily="34" charset="0"/>
              <a:buChar char="•"/>
            </a:pPr>
            <a:r>
              <a:rPr lang="en-IN" dirty="0"/>
              <a:t>Dataset is divided into training and testing sets (e.g., 80% training, 20% testing). </a:t>
            </a:r>
          </a:p>
          <a:p>
            <a:pPr>
              <a:buFont typeface="Arial" panose="020B0604020202020204" pitchFamily="34" charset="0"/>
              <a:buChar char="•"/>
            </a:pPr>
            <a:r>
              <a:rPr lang="en-IN" dirty="0"/>
              <a:t>Simple and widely used. </a:t>
            </a:r>
          </a:p>
          <a:p>
            <a:pPr>
              <a:buNone/>
            </a:pPr>
            <a:r>
              <a:rPr lang="en-IN" b="1" dirty="0"/>
              <a:t>2. Cross-Validation</a:t>
            </a:r>
            <a:endParaRPr lang="en-IN" dirty="0"/>
          </a:p>
          <a:p>
            <a:pPr>
              <a:buFont typeface="Arial" panose="020B0604020202020204" pitchFamily="34" charset="0"/>
              <a:buChar char="•"/>
            </a:pPr>
            <a:r>
              <a:rPr lang="en-IN" dirty="0"/>
              <a:t>Dataset is divided into </a:t>
            </a:r>
            <a:r>
              <a:rPr lang="en-IN" i="1" dirty="0"/>
              <a:t>k</a:t>
            </a:r>
            <a:r>
              <a:rPr lang="en-IN" dirty="0"/>
              <a:t> equal folds. </a:t>
            </a:r>
          </a:p>
          <a:p>
            <a:pPr>
              <a:buFont typeface="Arial" panose="020B0604020202020204" pitchFamily="34" charset="0"/>
              <a:buChar char="•"/>
            </a:pPr>
            <a:r>
              <a:rPr lang="en-IN" dirty="0"/>
              <a:t>Model is trained on </a:t>
            </a:r>
            <a:r>
              <a:rPr lang="en-IN" i="1" dirty="0"/>
              <a:t>k−1</a:t>
            </a:r>
            <a:r>
              <a:rPr lang="en-IN" dirty="0"/>
              <a:t> folds and tested on the remaining fold. </a:t>
            </a:r>
          </a:p>
          <a:p>
            <a:pPr>
              <a:buFont typeface="Arial" panose="020B0604020202020204" pitchFamily="34" charset="0"/>
              <a:buChar char="•"/>
            </a:pPr>
            <a:r>
              <a:rPr lang="en-IN" dirty="0"/>
              <a:t>Process repeats </a:t>
            </a:r>
            <a:r>
              <a:rPr lang="en-IN" i="1" dirty="0"/>
              <a:t>k</a:t>
            </a:r>
            <a:r>
              <a:rPr lang="en-IN" dirty="0"/>
              <a:t> times. </a:t>
            </a:r>
          </a:p>
          <a:p>
            <a:pPr>
              <a:buFont typeface="Arial" panose="020B0604020202020204" pitchFamily="34" charset="0"/>
              <a:buChar char="•"/>
            </a:pPr>
            <a:r>
              <a:rPr lang="en-IN" b="1" dirty="0"/>
              <a:t>Example:</a:t>
            </a:r>
            <a:r>
              <a:rPr lang="en-IN" dirty="0"/>
              <a:t> 5-fold or 10-fold cross-validation. </a:t>
            </a:r>
          </a:p>
          <a:p>
            <a:pPr>
              <a:buFont typeface="Arial" panose="020B0604020202020204" pitchFamily="34" charset="0"/>
              <a:buChar char="•"/>
            </a:pPr>
            <a:r>
              <a:rPr lang="en-IN" dirty="0"/>
              <a:t>Provides a more reliable estimate of model performance. </a:t>
            </a:r>
          </a:p>
          <a:p>
            <a:pPr>
              <a:buNone/>
            </a:pPr>
            <a:r>
              <a:rPr lang="en-IN" b="1" dirty="0"/>
              <a:t>3. Bootstrapping</a:t>
            </a:r>
            <a:endParaRPr lang="en-IN" dirty="0"/>
          </a:p>
          <a:p>
            <a:pPr>
              <a:buFont typeface="Arial" panose="020B0604020202020204" pitchFamily="34" charset="0"/>
              <a:buChar char="•"/>
            </a:pPr>
            <a:r>
              <a:rPr lang="en-IN" dirty="0"/>
              <a:t>Random samples are drawn with replacement. </a:t>
            </a:r>
          </a:p>
          <a:p>
            <a:pPr>
              <a:buFont typeface="Arial" panose="020B0604020202020204" pitchFamily="34" charset="0"/>
              <a:buChar char="•"/>
            </a:pPr>
            <a:r>
              <a:rPr lang="en-IN" dirty="0"/>
              <a:t>Used to estimate model accuracy and confidence intervals. </a:t>
            </a:r>
          </a:p>
          <a:p>
            <a:pPr>
              <a:buFont typeface="Arial" panose="020B0604020202020204" pitchFamily="34" charset="0"/>
              <a:buChar char="•"/>
            </a:pPr>
            <a:r>
              <a:rPr lang="en-IN" dirty="0"/>
              <a:t>Useful when datasets are small.</a:t>
            </a:r>
          </a:p>
          <a:p>
            <a:r>
              <a:rPr lang="en-IN" b="1" dirty="0"/>
              <a:t>Classification Metrics</a:t>
            </a:r>
          </a:p>
          <a:p>
            <a:r>
              <a:rPr lang="en-IN" b="1" dirty="0"/>
              <a:t>Accuracy:</a:t>
            </a:r>
            <a:r>
              <a:rPr lang="en-IN" dirty="0"/>
              <a:t> Percentage of correctly classified instances. </a:t>
            </a:r>
          </a:p>
          <a:p>
            <a:r>
              <a:rPr lang="en-IN" b="1" dirty="0"/>
              <a:t>Precision:</a:t>
            </a:r>
            <a:r>
              <a:rPr lang="en-IN" dirty="0"/>
              <a:t> Correct positive predictions out of predicted positives. </a:t>
            </a:r>
          </a:p>
          <a:p>
            <a:r>
              <a:rPr lang="en-IN" b="1" dirty="0"/>
              <a:t>Recall (Sensitivity):</a:t>
            </a:r>
            <a:r>
              <a:rPr lang="en-IN" dirty="0"/>
              <a:t> Correct positive predictions out of actual positives. </a:t>
            </a:r>
          </a:p>
          <a:p>
            <a:r>
              <a:rPr lang="en-IN" b="1" dirty="0"/>
              <a:t>F1-Score:</a:t>
            </a:r>
            <a:r>
              <a:rPr lang="en-IN" dirty="0"/>
              <a:t> Harmonic mean of precision and recall. </a:t>
            </a:r>
          </a:p>
          <a:p>
            <a:r>
              <a:rPr lang="en-IN" b="1" dirty="0"/>
              <a:t>Confusion Matrix:</a:t>
            </a:r>
            <a:r>
              <a:rPr lang="en-IN" dirty="0"/>
              <a:t> Shows true positives, true negatives, false positives, and false negatives. </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3176355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674</Words>
  <Application>Microsoft Office PowerPoint</Application>
  <PresentationFormat>Widescreen</PresentationFormat>
  <Paragraphs>97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Name:M.Pavan kumar      Reg:192312142  ITA0607 –Machine Learning</vt:lpstr>
      <vt:lpstr>13. Explain the concept of ensemble learning and its importance in improving model performance. Discuss techniques such as bagging, boosting, and stacking. Highlight algorithms like Random Forest and AdaBoost, and explainhow combining multiple models reduces variance and bias.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kumar</dc:creator>
  <cp:lastModifiedBy>pavan kumar</cp:lastModifiedBy>
  <cp:revision>1</cp:revision>
  <dcterms:created xsi:type="dcterms:W3CDTF">2026-07-23T15:27:36Z</dcterms:created>
  <dcterms:modified xsi:type="dcterms:W3CDTF">2026-07-23T15:27:36Z</dcterms:modified>
</cp:coreProperties>
</file>